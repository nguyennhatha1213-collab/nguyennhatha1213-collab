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(triệu đ)</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900" u="none">
                    <a:solidFill>
                      <a:srgbClr val="1F2430"/>
                    </a:solidFill>
                    <a:latin typeface="Arial"/>
                  </a:defRPr>
                </a:pPr>
              </a:p>
            </c:txPr>
            <c:dLblPos val="t"/>
            <c:showLegendKey val="0"/>
            <c:showVal val="1"/>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Sheet1!$A$2:$A$7</c:f>
              <c:multiLvlStrCache>
                <c:ptCount val="6"/>
                <c:lvl>
                  <c:pt idx="0">
                    <c:v>01/26</c:v>
                  </c:pt>
                  <c:pt idx="1">
                    <c:v>02/26</c:v>
                  </c:pt>
                  <c:pt idx="2">
                    <c:v>03/26</c:v>
                  </c:pt>
                  <c:pt idx="3">
                    <c:v>04/26</c:v>
                  </c:pt>
                  <c:pt idx="4">
                    <c:v>05/26</c:v>
                  </c:pt>
                  <c:pt idx="5">
                    <c:v>06/26</c:v>
                  </c:pt>
                </c:lvl>
              </c:multiLvlStrCache>
            </c:multiLvlStrRef>
          </c:cat>
          <c:val>
            <c:numRef>
              <c:f>Sheet1!$B$2:$B$7</c:f>
              <c:numCache>
                <c:formatCode>General</c:formatCode>
                <c:ptCount val="6"/>
                <c:pt idx="0">
                  <c:v>11994</c:v>
                </c:pt>
                <c:pt idx="1">
                  <c:v>13916</c:v>
                </c:pt>
                <c:pt idx="2">
                  <c:v>12579</c:v>
                </c:pt>
                <c:pt idx="3">
                  <c:v>11226</c:v>
                </c:pt>
                <c:pt idx="4">
                  <c:v>17447</c:v>
                </c:pt>
                <c:pt idx="5">
                  <c:v>14352</c:v>
                </c:pt>
              </c:numCache>
            </c:numRef>
          </c:val>
          <c:smooth val="0"/>
        </c:ser>
        <c:ser>
          <c:idx val="1"/>
          <c:order val="1"/>
          <c:tx>
            <c:strRef>
              <c:f>Sheet1!$C$1</c:f>
              <c:strCache>
                <c:ptCount val="1"/>
                <c:pt idx="0">
                  <c:v>Jobs</c:v>
                </c:pt>
              </c:strCache>
            </c:strRef>
          </c:tx>
          <c:spPr>
            <a:solidFill>
              <a:srgbClr val="C9A44C"/>
            </a:solidFill>
            <a:ln w="38100" cap="flat">
              <a:solidFill>
                <a:srgbClr val="C9A44C"/>
              </a:solidFill>
              <a:prstDash val="solid"/>
              <a:round/>
            </a:ln>
            <a:effectLst/>
          </c:spPr>
          <c:invertIfNegative val="0"/>
          <c:dLbls>
            <c:numFmt formatCode="#,##0" sourceLinked="0"/>
            <c:txPr>
              <a:bodyPr/>
              <a:lstStyle/>
              <a:p>
                <a:pPr>
                  <a:defRPr b="0" i="0" strike="noStrike" sz="900" u="none">
                    <a:solidFill>
                      <a:srgbClr val="1F2430"/>
                    </a:solidFill>
                    <a:latin typeface="Arial"/>
                  </a:defRPr>
                </a:pPr>
              </a:p>
            </c:txPr>
            <c:dLblPos val="t"/>
            <c:showLegendKey val="0"/>
            <c:showVal val="1"/>
            <c:showCatName val="0"/>
            <c:showSerName val="0"/>
            <c:showPercent val="0"/>
            <c:showBubbleSize val="0"/>
            <c:showLeaderLines val="0"/>
          </c:dLbls>
          <c:marker>
            <c:symbol val="circle"/>
            <c:size val="6"/>
            <c:spPr>
              <a:solidFill>
                <a:srgbClr val="C9A44C"/>
              </a:solidFill>
              <a:ln w="9525" cap="flat">
                <a:solidFill>
                  <a:srgbClr val="C9A44C"/>
                </a:solidFill>
                <a:prstDash val="solid"/>
                <a:round/>
              </a:ln>
              <a:effectLst/>
            </c:spPr>
          </c:marker>
          <c:cat>
            <c:multiLvlStrRef>
              <c:f>Sheet1!$A$2:$A$7</c:f>
              <c:multiLvlStrCache>
                <c:ptCount val="6"/>
                <c:lvl>
                  <c:pt idx="0">
                    <c:v>01/26</c:v>
                  </c:pt>
                  <c:pt idx="1">
                    <c:v>02/26</c:v>
                  </c:pt>
                  <c:pt idx="2">
                    <c:v>03/26</c:v>
                  </c:pt>
                  <c:pt idx="3">
                    <c:v>04/26</c:v>
                  </c:pt>
                  <c:pt idx="4">
                    <c:v>05/26</c:v>
                  </c:pt>
                  <c:pt idx="5">
                    <c:v>06/26</c:v>
                  </c:pt>
                </c:lvl>
              </c:multiLvlStrCache>
            </c:multiLvlStrRef>
          </c:cat>
          <c:val>
            <c:numRef>
              <c:f>Sheet1!$C$2:$C$7</c:f>
              <c:numCache>
                <c:formatCode>General</c:formatCode>
                <c:ptCount val="6"/>
                <c:pt idx="0">
                  <c:v>7913</c:v>
                </c:pt>
                <c:pt idx="1">
                  <c:v>9195</c:v>
                </c:pt>
                <c:pt idx="2">
                  <c:v>8375</c:v>
                </c:pt>
                <c:pt idx="3">
                  <c:v>7522</c:v>
                </c:pt>
                <c:pt idx="4">
                  <c:v>11673</c:v>
                </c:pt>
                <c:pt idx="5">
                  <c:v>9585</c:v>
                </c:pt>
              </c:numCache>
            </c:numRef>
          </c:val>
          <c:smooth val="0"/>
        </c:ser>
        <c:dLbls>
          <c:numFmt formatCode="#,##0" sourceLinked="0"/>
          <c:txPr>
            <a:bodyPr/>
            <a:lstStyle/>
            <a:p>
              <a:pPr>
                <a:defRPr b="0" i="0" strike="noStrike" sz="900" u="none">
                  <a:solidFill>
                    <a:srgbClr val="1F243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43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 Job (triệu đ)</c:v>
                </c:pt>
              </c:strCache>
            </c:strRef>
          </c:tx>
          <c:spPr>
            <a:solidFill>
              <a:srgbClr val="C9A44C"/>
            </a:solidFill>
            <a:ln w="38100" cap="flat">
              <a:solidFill>
                <a:srgbClr val="C9A44C"/>
              </a:solidFill>
              <a:prstDash val="solid"/>
              <a:round/>
            </a:ln>
            <a:effectLst/>
          </c:spPr>
          <c:invertIfNegative val="0"/>
          <c:dLbls>
            <c:numFmt formatCode="#,##0" sourceLinked="0"/>
            <c:txPr>
              <a:bodyPr/>
              <a:lstStyle/>
              <a:p>
                <a:pPr>
                  <a:defRPr b="0" i="0" strike="noStrike" sz="1100" u="none">
                    <a:solidFill>
                      <a:srgbClr val="1E2761"/>
                    </a:solidFill>
                    <a:latin typeface="Arial"/>
                  </a:defRPr>
                </a:pPr>
              </a:p>
            </c:txPr>
            <c:dLblPos val="t"/>
            <c:showLegendKey val="0"/>
            <c:showVal val="1"/>
            <c:showCatName val="0"/>
            <c:showSerName val="0"/>
            <c:showPercent val="0"/>
            <c:showBubbleSize val="0"/>
            <c:showLeaderLines val="0"/>
          </c:dLbls>
          <c:marker>
            <c:symbol val="circle"/>
            <c:size val="7"/>
            <c:spPr>
              <a:solidFill>
                <a:srgbClr val="C9A44C"/>
              </a:solidFill>
              <a:ln w="9525" cap="flat">
                <a:solidFill>
                  <a:srgbClr val="C9A44C"/>
                </a:solidFill>
                <a:prstDash val="solid"/>
                <a:round/>
              </a:ln>
              <a:effectLst/>
            </c:spPr>
          </c:marker>
          <c:cat>
            <c:multiLvlStrRef>
              <c:f>Sheet1!$A$2:$A$7</c:f>
              <c:multiLvlStrCache>
                <c:ptCount val="6"/>
                <c:lvl>
                  <c:pt idx="0">
                    <c:v>01/26</c:v>
                  </c:pt>
                  <c:pt idx="1">
                    <c:v>02/26</c:v>
                  </c:pt>
                  <c:pt idx="2">
                    <c:v>03/26</c:v>
                  </c:pt>
                  <c:pt idx="3">
                    <c:v>04/26</c:v>
                  </c:pt>
                  <c:pt idx="4">
                    <c:v>05/26</c:v>
                  </c:pt>
                  <c:pt idx="5">
                    <c:v>06/26</c:v>
                  </c:pt>
                </c:lvl>
              </c:multiLvlStrCache>
            </c:multiLvlStrRef>
          </c:cat>
          <c:val>
            <c:numRef>
              <c:f>Sheet1!$B$2:$B$7</c:f>
              <c:numCache>
                <c:formatCode>General</c:formatCode>
                <c:ptCount val="6"/>
                <c:pt idx="0">
                  <c:v>1.52</c:v>
                </c:pt>
                <c:pt idx="1">
                  <c:v>1.51</c:v>
                </c:pt>
                <c:pt idx="2">
                  <c:v>1.5</c:v>
                </c:pt>
                <c:pt idx="3">
                  <c:v>1.49</c:v>
                </c:pt>
                <c:pt idx="4">
                  <c:v>1.5</c:v>
                </c:pt>
                <c:pt idx="5">
                  <c:v>1.5</c:v>
                </c:pt>
              </c:numCache>
            </c:numRef>
          </c:val>
          <c:smooth val="0"/>
        </c:ser>
        <c:dLbls>
          <c:numFmt formatCode="#,##0" sourceLinked="0"/>
          <c:txPr>
            <a:bodyPr/>
            <a:lstStyle/>
            <a:p>
              <a:pPr>
                <a:defRPr b="0" i="0" strike="noStrike" sz="1100" u="none">
                  <a:solidFill>
                    <a:srgbClr val="1E276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1.55"/>
          <c:min val="1.45"/>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430"/>
                </a:solidFill>
                <a:latin typeface="Arial"/>
              </a:defRPr>
            </a:pPr>
            <a:r>
              <a:rPr sz="1200" b="0" i="0" u="none" strike="noStrike">
                <a:solidFill>
                  <a:srgbClr val="1F2430"/>
                </a:solidFill>
                <a:latin typeface="Arial"/>
              </a:rPr>
              <a:t>Total Jobs by Region</a:t>
            </a:r>
          </a:p>
        </c:rich>
      </c:tx>
      <c:layout/>
      <c:overlay val="0"/>
    </c:title>
    <c:autoTitleDeleted val="0"/>
    <c:plotArea>
      <c:layout/>
      <c:barChart>
        <c:barDir val="bar"/>
        <c:grouping val="clustered"/>
        <c:varyColors val="0"/>
        <c:ser>
          <c:idx val="0"/>
          <c:order val="0"/>
          <c:tx>
            <c:strRef>
              <c:f>Sheet1!$B$1</c:f>
              <c:strCache>
                <c:ptCount val="1"/>
                <c:pt idx="0">
                  <c:v>Total Jobs</c:v>
                </c:pt>
              </c:strCache>
            </c:strRef>
          </c:tx>
          <c:spPr>
            <a:solidFill>
              <a:srgbClr val="1E2761"/>
            </a:solidFill>
            <a:effectLst/>
          </c:spPr>
          <c:invertIfNegative val="0"/>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Central</c:v>
                  </c:pt>
                  <c:pt idx="1">
                    <c:v>North</c:v>
                  </c:pt>
                  <c:pt idx="2">
                    <c:v>South</c:v>
                  </c:pt>
                </c:lvl>
              </c:multiLvlStrCache>
            </c:multiLvlStrRef>
          </c:cat>
          <c:val>
            <c:numRef>
              <c:f>Sheet1!$B$2:$B$4</c:f>
              <c:numCache>
                <c:formatCode>General</c:formatCode>
                <c:ptCount val="3"/>
                <c:pt idx="0">
                  <c:v>19513</c:v>
                </c:pt>
                <c:pt idx="1">
                  <c:v>17372</c:v>
                </c:pt>
                <c:pt idx="2">
                  <c:v>17378</c:v>
                </c:pt>
              </c:numCache>
            </c:numRef>
          </c:val>
        </c:ser>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430"/>
                </a:solidFill>
                <a:latin typeface="Arial"/>
              </a:defRPr>
            </a:pPr>
            <a:r>
              <a:rPr sz="1200" b="0" i="0" u="none" strike="noStrike">
                <a:solidFill>
                  <a:srgbClr val="1F2430"/>
                </a:solidFill>
                <a:latin typeface="Arial"/>
              </a:rPr>
              <a:t>Total Revenue by Region</a:t>
            </a:r>
          </a:p>
        </c:rich>
      </c:tx>
      <c:layout/>
      <c:overlay val="0"/>
    </c:title>
    <c:autoTitleDeleted val="0"/>
    <c:plotArea>
      <c:layout/>
      <c:barChart>
        <c:barDir val="bar"/>
        <c:grouping val="clustered"/>
        <c:varyColors val="0"/>
        <c:ser>
          <c:idx val="0"/>
          <c:order val="0"/>
          <c:tx>
            <c:strRef>
              <c:f>Sheet1!$B$1</c:f>
              <c:strCache>
                <c:ptCount val="1"/>
                <c:pt idx="0">
                  <c:v>Total Revenue</c:v>
                </c:pt>
              </c:strCache>
            </c:strRef>
          </c:tx>
          <c:spPr>
            <a:solidFill>
              <a:srgbClr val="C9A44C"/>
            </a:solidFill>
            <a:effectLst/>
          </c:spPr>
          <c:invertIfNegative val="0"/>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Central</c:v>
                  </c:pt>
                  <c:pt idx="1">
                    <c:v>North</c:v>
                  </c:pt>
                  <c:pt idx="2">
                    <c:v>South</c:v>
                  </c:pt>
                </c:lvl>
              </c:multiLvlStrCache>
            </c:multiLvlStrRef>
          </c:cat>
          <c:val>
            <c:numRef>
              <c:f>Sheet1!$B$2:$B$4</c:f>
              <c:numCache>
                <c:formatCode>General</c:formatCode>
                <c:ptCount val="3"/>
                <c:pt idx="0">
                  <c:v>29500</c:v>
                </c:pt>
                <c:pt idx="1">
                  <c:v>26132</c:v>
                </c:pt>
                <c:pt idx="2">
                  <c:v>25882</c:v>
                </c:pt>
              </c:numCache>
            </c:numRef>
          </c:val>
        </c:ser>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9966960" y="-1463040"/>
            <a:ext cx="4572000" cy="4572000"/>
          </a:xfrm>
          <a:prstGeom prst="ellipse">
            <a:avLst/>
          </a:prstGeom>
          <a:solidFill>
            <a:srgbClr val="263173"/>
          </a:solidFill>
          <a:ln/>
        </p:spPr>
      </p:sp>
      <p:sp>
        <p:nvSpPr>
          <p:cNvPr id="4" name="Shape 2"/>
          <p:cNvSpPr/>
          <p:nvPr/>
        </p:nvSpPr>
        <p:spPr>
          <a:xfrm>
            <a:off x="10607040" y="4206240"/>
            <a:ext cx="2926080" cy="2926080"/>
          </a:xfrm>
          <a:prstGeom prst="ellipse">
            <a:avLst/>
          </a:prstGeom>
          <a:solidFill>
            <a:srgbClr val="263173"/>
          </a:solidFill>
          <a:ln/>
        </p:spPr>
      </p:sp>
      <p:sp>
        <p:nvSpPr>
          <p:cNvPr id="5" name="Text 3"/>
          <p:cNvSpPr/>
          <p:nvPr/>
        </p:nvSpPr>
        <p:spPr>
          <a:xfrm>
            <a:off x="822960" y="2331720"/>
            <a:ext cx="8778240" cy="1645920"/>
          </a:xfrm>
          <a:prstGeom prst="rect">
            <a:avLst/>
          </a:prstGeom>
          <a:noFill/>
          <a:ln/>
        </p:spPr>
        <p:txBody>
          <a:bodyPr wrap="square"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BÁO CÁO HIỆU SUẤT KINH DOANH</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VÀ VẬN HÀNH KỸ THUẬT VIÊN</a:t>
            </a:r>
            <a:endParaRPr lang="en-US" sz="3800" dirty="0"/>
          </a:p>
        </p:txBody>
      </p:sp>
      <p:sp>
        <p:nvSpPr>
          <p:cNvPr id="6" name="Text 4"/>
          <p:cNvSpPr/>
          <p:nvPr/>
        </p:nvSpPr>
        <p:spPr>
          <a:xfrm>
            <a:off x="822960" y="3886200"/>
            <a:ext cx="7315200" cy="45720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Technician Performance Report</a:t>
            </a:r>
            <a:endParaRPr lang="en-US" sz="1600" dirty="0"/>
          </a:p>
        </p:txBody>
      </p:sp>
      <p:sp>
        <p:nvSpPr>
          <p:cNvPr id="7" name="Shape 5"/>
          <p:cNvSpPr/>
          <p:nvPr/>
        </p:nvSpPr>
        <p:spPr>
          <a:xfrm>
            <a:off x="868680" y="4434840"/>
            <a:ext cx="457200" cy="36576"/>
          </a:xfrm>
          <a:prstGeom prst="rect">
            <a:avLst/>
          </a:prstGeom>
          <a:solidFill>
            <a:srgbClr val="C9A44C"/>
          </a:solidFill>
          <a:ln/>
        </p:spPr>
      </p:sp>
      <p:sp>
        <p:nvSpPr>
          <p:cNvPr id="8" name="Text 6"/>
          <p:cNvSpPr/>
          <p:nvPr/>
        </p:nvSpPr>
        <p:spPr>
          <a:xfrm>
            <a:off x="822960" y="4617720"/>
            <a:ext cx="73152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Giai đoạn phân tích: Tháng 01/2026 – Tháng 06/2026</a:t>
            </a:r>
            <a:endParaRPr lang="en-US" sz="1400" dirty="0"/>
          </a:p>
        </p:txBody>
      </p:sp>
      <p:sp>
        <p:nvSpPr>
          <p:cNvPr id="9" name="Text 7"/>
          <p:cNvSpPr/>
          <p:nvPr/>
        </p:nvSpPr>
        <p:spPr>
          <a:xfrm>
            <a:off x="822960" y="4983480"/>
            <a:ext cx="73152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Phân tích xu hướng KPI kinh doanh, vận hành và hiệu suất theo khu vực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TỔNG QUAN</a:t>
            </a:r>
            <a:endParaRPr lang="en-US" sz="1200" dirty="0"/>
          </a:p>
        </p:txBody>
      </p:sp>
      <p:sp>
        <p:nvSpPr>
          <p:cNvPr id="3" name="Text 1"/>
          <p:cNvSpPr/>
          <p:nvPr/>
        </p:nvSpPr>
        <p:spPr>
          <a:xfrm>
            <a:off x="548640" y="640080"/>
            <a:ext cx="10058400" cy="548640"/>
          </a:xfrm>
          <a:prstGeom prst="rect">
            <a:avLst/>
          </a:prstGeom>
          <a:noFill/>
          <a:ln/>
        </p:spPr>
        <p:txBody>
          <a:bodyPr wrap="square" rtlCol="0" anchor="ctr"/>
          <a:lstStyle/>
          <a:p>
            <a:pPr indent="0" marL="0">
              <a:buNone/>
            </a:pPr>
            <a:r>
              <a:rPr lang="en-US" sz="2600" b="1" dirty="0">
                <a:solidFill>
                  <a:srgbClr val="1F2430"/>
                </a:solidFill>
                <a:latin typeface="Cambria" pitchFamily="34" charset="0"/>
                <a:ea typeface="Cambria" pitchFamily="34" charset="-122"/>
                <a:cs typeface="Cambria" pitchFamily="34" charset="-120"/>
              </a:rPr>
              <a:t>Bức tranh tổng thể 6 tháng đầu năm 2026</a:t>
            </a:r>
            <a:endParaRPr lang="en-US" sz="2600" dirty="0"/>
          </a:p>
        </p:txBody>
      </p:sp>
      <p:sp>
        <p:nvSpPr>
          <p:cNvPr id="4" name="Shape 2"/>
          <p:cNvSpPr/>
          <p:nvPr/>
        </p:nvSpPr>
        <p:spPr>
          <a:xfrm>
            <a:off x="548640" y="1600200"/>
            <a:ext cx="3429000" cy="1600200"/>
          </a:xfrm>
          <a:prstGeom prst="roundRect">
            <a:avLst>
              <a:gd name="adj" fmla="val 4571"/>
            </a:avLst>
          </a:prstGeom>
          <a:solidFill>
            <a:srgbClr val="F4F6FB"/>
          </a:solidFill>
          <a:ln/>
          <a:effectLst>
            <a:outerShdw sx="100000" sy="100000" kx="0" ky="0" algn="bl" rotWithShape="0" blurRad="76200" dist="25400" dir="5400000">
              <a:srgbClr val="999999">
                <a:alpha val="15000"/>
              </a:srgbClr>
            </a:outerShdw>
          </a:effectLst>
        </p:spPr>
      </p:sp>
      <p:sp>
        <p:nvSpPr>
          <p:cNvPr id="5" name="Text 3"/>
          <p:cNvSpPr/>
          <p:nvPr/>
        </p:nvSpPr>
        <p:spPr>
          <a:xfrm>
            <a:off x="777240" y="1801368"/>
            <a:ext cx="2971800" cy="77724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54.263</a:t>
            </a:r>
            <a:endParaRPr lang="en-US" sz="3400" dirty="0"/>
          </a:p>
        </p:txBody>
      </p:sp>
      <p:sp>
        <p:nvSpPr>
          <p:cNvPr id="6" name="Text 4"/>
          <p:cNvSpPr/>
          <p:nvPr/>
        </p:nvSpPr>
        <p:spPr>
          <a:xfrm>
            <a:off x="777240" y="2651760"/>
            <a:ext cx="297180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Tổng số Jobs</a:t>
            </a:r>
            <a:endParaRPr lang="en-US" sz="1300" dirty="0"/>
          </a:p>
        </p:txBody>
      </p:sp>
      <p:sp>
        <p:nvSpPr>
          <p:cNvPr id="7" name="Shape 5"/>
          <p:cNvSpPr/>
          <p:nvPr/>
        </p:nvSpPr>
        <p:spPr>
          <a:xfrm>
            <a:off x="4206240" y="1600200"/>
            <a:ext cx="3429000" cy="1600200"/>
          </a:xfrm>
          <a:prstGeom prst="roundRect">
            <a:avLst>
              <a:gd name="adj" fmla="val 4571"/>
            </a:avLst>
          </a:prstGeom>
          <a:solidFill>
            <a:srgbClr val="F4F6FB"/>
          </a:solidFill>
          <a:ln/>
          <a:effectLst>
            <a:outerShdw sx="100000" sy="100000" kx="0" ky="0" algn="bl" rotWithShape="0" blurRad="76200" dist="25400" dir="5400000">
              <a:srgbClr val="999999">
                <a:alpha val="15000"/>
              </a:srgbClr>
            </a:outerShdw>
          </a:effectLst>
        </p:spPr>
      </p:sp>
      <p:sp>
        <p:nvSpPr>
          <p:cNvPr id="8" name="Text 6"/>
          <p:cNvSpPr/>
          <p:nvPr/>
        </p:nvSpPr>
        <p:spPr>
          <a:xfrm>
            <a:off x="4434840" y="1801368"/>
            <a:ext cx="2971800" cy="77724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81.514</a:t>
            </a:r>
            <a:endParaRPr lang="en-US" sz="3400" dirty="0"/>
          </a:p>
        </p:txBody>
      </p:sp>
      <p:sp>
        <p:nvSpPr>
          <p:cNvPr id="9" name="Text 7"/>
          <p:cNvSpPr/>
          <p:nvPr/>
        </p:nvSpPr>
        <p:spPr>
          <a:xfrm>
            <a:off x="4434840" y="2651760"/>
            <a:ext cx="297180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Tổng doanh thu (triệu đ)</a:t>
            </a:r>
            <a:endParaRPr lang="en-US" sz="1300" dirty="0"/>
          </a:p>
        </p:txBody>
      </p:sp>
      <p:sp>
        <p:nvSpPr>
          <p:cNvPr id="10" name="Shape 8"/>
          <p:cNvSpPr/>
          <p:nvPr/>
        </p:nvSpPr>
        <p:spPr>
          <a:xfrm>
            <a:off x="7863840" y="1600200"/>
            <a:ext cx="3429000" cy="1600200"/>
          </a:xfrm>
          <a:prstGeom prst="roundRect">
            <a:avLst>
              <a:gd name="adj" fmla="val 4571"/>
            </a:avLst>
          </a:prstGeom>
          <a:solidFill>
            <a:srgbClr val="F4F6FB"/>
          </a:solidFill>
          <a:ln/>
          <a:effectLst>
            <a:outerShdw sx="100000" sy="100000" kx="0" ky="0" algn="bl" rotWithShape="0" blurRad="76200" dist="25400" dir="5400000">
              <a:srgbClr val="999999">
                <a:alpha val="15000"/>
              </a:srgbClr>
            </a:outerShdw>
          </a:effectLst>
        </p:spPr>
      </p:sp>
      <p:sp>
        <p:nvSpPr>
          <p:cNvPr id="11" name="Text 9"/>
          <p:cNvSpPr/>
          <p:nvPr/>
        </p:nvSpPr>
        <p:spPr>
          <a:xfrm>
            <a:off x="8092440" y="1801368"/>
            <a:ext cx="2971800" cy="77724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4,58</a:t>
            </a:r>
            <a:endParaRPr lang="en-US" sz="3400" dirty="0"/>
          </a:p>
        </p:txBody>
      </p:sp>
      <p:sp>
        <p:nvSpPr>
          <p:cNvPr id="12" name="Text 10"/>
          <p:cNvSpPr/>
          <p:nvPr/>
        </p:nvSpPr>
        <p:spPr>
          <a:xfrm>
            <a:off x="8092440" y="2651760"/>
            <a:ext cx="297180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Customer Rating</a:t>
            </a:r>
            <a:endParaRPr lang="en-US" sz="1300" dirty="0"/>
          </a:p>
        </p:txBody>
      </p:sp>
      <p:sp>
        <p:nvSpPr>
          <p:cNvPr id="13" name="Shape 11"/>
          <p:cNvSpPr/>
          <p:nvPr/>
        </p:nvSpPr>
        <p:spPr>
          <a:xfrm>
            <a:off x="548640" y="3429000"/>
            <a:ext cx="3429000" cy="1600200"/>
          </a:xfrm>
          <a:prstGeom prst="roundRect">
            <a:avLst>
              <a:gd name="adj" fmla="val 4571"/>
            </a:avLst>
          </a:prstGeom>
          <a:solidFill>
            <a:srgbClr val="F4F6FB"/>
          </a:solidFill>
          <a:ln/>
          <a:effectLst>
            <a:outerShdw sx="100000" sy="100000" kx="0" ky="0" algn="bl" rotWithShape="0" blurRad="76200" dist="25400" dir="5400000">
              <a:srgbClr val="999999">
                <a:alpha val="15000"/>
              </a:srgbClr>
            </a:outerShdw>
          </a:effectLst>
        </p:spPr>
      </p:sp>
      <p:sp>
        <p:nvSpPr>
          <p:cNvPr id="14" name="Text 12"/>
          <p:cNvSpPr/>
          <p:nvPr/>
        </p:nvSpPr>
        <p:spPr>
          <a:xfrm>
            <a:off x="777240" y="3630168"/>
            <a:ext cx="2971800" cy="77724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44,86 phút</a:t>
            </a:r>
            <a:endParaRPr lang="en-US" sz="3400" dirty="0"/>
          </a:p>
        </p:txBody>
      </p:sp>
      <p:sp>
        <p:nvSpPr>
          <p:cNvPr id="15" name="Text 13"/>
          <p:cNvSpPr/>
          <p:nvPr/>
        </p:nvSpPr>
        <p:spPr>
          <a:xfrm>
            <a:off x="777240" y="4480560"/>
            <a:ext cx="297180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Avg Repair Time</a:t>
            </a:r>
            <a:endParaRPr lang="en-US" sz="1300" dirty="0"/>
          </a:p>
        </p:txBody>
      </p:sp>
      <p:sp>
        <p:nvSpPr>
          <p:cNvPr id="16" name="Shape 14"/>
          <p:cNvSpPr/>
          <p:nvPr/>
        </p:nvSpPr>
        <p:spPr>
          <a:xfrm>
            <a:off x="4206240" y="3429000"/>
            <a:ext cx="3429000" cy="1600200"/>
          </a:xfrm>
          <a:prstGeom prst="roundRect">
            <a:avLst>
              <a:gd name="adj" fmla="val 4571"/>
            </a:avLst>
          </a:prstGeom>
          <a:solidFill>
            <a:srgbClr val="F4F6FB"/>
          </a:solidFill>
          <a:ln/>
          <a:effectLst>
            <a:outerShdw sx="100000" sy="100000" kx="0" ky="0" algn="bl" rotWithShape="0" blurRad="76200" dist="25400" dir="5400000">
              <a:srgbClr val="999999">
                <a:alpha val="15000"/>
              </a:srgbClr>
            </a:outerShdw>
          </a:effectLst>
        </p:spPr>
      </p:sp>
      <p:sp>
        <p:nvSpPr>
          <p:cNvPr id="17" name="Text 15"/>
          <p:cNvSpPr/>
          <p:nvPr/>
        </p:nvSpPr>
        <p:spPr>
          <a:xfrm>
            <a:off x="4434840" y="3630168"/>
            <a:ext cx="2971800" cy="77724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1,32%</a:t>
            </a:r>
            <a:endParaRPr lang="en-US" sz="3400" dirty="0"/>
          </a:p>
        </p:txBody>
      </p:sp>
      <p:sp>
        <p:nvSpPr>
          <p:cNvPr id="18" name="Text 16"/>
          <p:cNvSpPr/>
          <p:nvPr/>
        </p:nvSpPr>
        <p:spPr>
          <a:xfrm>
            <a:off x="4434840" y="4480560"/>
            <a:ext cx="297180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Complaint Rate</a:t>
            </a:r>
            <a:endParaRPr lang="en-US" sz="1300" dirty="0"/>
          </a:p>
        </p:txBody>
      </p:sp>
      <p:sp>
        <p:nvSpPr>
          <p:cNvPr id="19" name="Shape 17"/>
          <p:cNvSpPr/>
          <p:nvPr/>
        </p:nvSpPr>
        <p:spPr>
          <a:xfrm>
            <a:off x="7863840" y="3429000"/>
            <a:ext cx="3429000" cy="1600200"/>
          </a:xfrm>
          <a:prstGeom prst="roundRect">
            <a:avLst>
              <a:gd name="adj" fmla="val 4571"/>
            </a:avLst>
          </a:prstGeom>
          <a:solidFill>
            <a:srgbClr val="F4F6FB"/>
          </a:solidFill>
          <a:ln/>
          <a:effectLst>
            <a:outerShdw sx="100000" sy="100000" kx="0" ky="0" algn="bl" rotWithShape="0" blurRad="76200" dist="25400" dir="5400000">
              <a:srgbClr val="999999">
                <a:alpha val="15000"/>
              </a:srgbClr>
            </a:outerShdw>
          </a:effectLst>
        </p:spPr>
      </p:sp>
      <p:sp>
        <p:nvSpPr>
          <p:cNvPr id="20" name="Text 18"/>
          <p:cNvSpPr/>
          <p:nvPr/>
        </p:nvSpPr>
        <p:spPr>
          <a:xfrm>
            <a:off x="8092440" y="3630168"/>
            <a:ext cx="2971800" cy="77724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1,50 triệu đ</a:t>
            </a:r>
            <a:endParaRPr lang="en-US" sz="3400" dirty="0"/>
          </a:p>
        </p:txBody>
      </p:sp>
      <p:sp>
        <p:nvSpPr>
          <p:cNvPr id="21" name="Text 19"/>
          <p:cNvSpPr/>
          <p:nvPr/>
        </p:nvSpPr>
        <p:spPr>
          <a:xfrm>
            <a:off x="8092440" y="4480560"/>
            <a:ext cx="297180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Revenue / Job</a:t>
            </a:r>
            <a:endParaRPr lang="en-US" sz="1300" dirty="0"/>
          </a:p>
        </p:txBody>
      </p:sp>
      <p:sp>
        <p:nvSpPr>
          <p:cNvPr id="22"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23" name="Text 21"/>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371600" y="4754880"/>
            <a:ext cx="4114800" cy="4114800"/>
          </a:xfrm>
          <a:prstGeom prst="ellipse">
            <a:avLst/>
          </a:prstGeom>
          <a:solidFill>
            <a:srgbClr val="263173"/>
          </a:solidFill>
          <a:ln/>
        </p:spPr>
      </p:sp>
      <p:sp>
        <p:nvSpPr>
          <p:cNvPr id="3" name="Text 1"/>
          <p:cNvSpPr/>
          <p:nvPr/>
        </p:nvSpPr>
        <p:spPr>
          <a:xfrm>
            <a:off x="822960" y="2103120"/>
            <a:ext cx="2743200" cy="1097280"/>
          </a:xfrm>
          <a:prstGeom prst="rect">
            <a:avLst/>
          </a:prstGeom>
          <a:noFill/>
          <a:ln/>
        </p:spPr>
        <p:txBody>
          <a:bodyPr wrap="square" rtlCol="0" anchor="ctr"/>
          <a:lstStyle/>
          <a:p>
            <a:pPr indent="0" marL="0">
              <a:buNone/>
            </a:pPr>
            <a:r>
              <a:rPr lang="en-US" sz="6000" b="1" dirty="0">
                <a:solidFill>
                  <a:srgbClr val="C9A44C"/>
                </a:solidFill>
                <a:latin typeface="Cambria" pitchFamily="34" charset="0"/>
                <a:ea typeface="Cambria" pitchFamily="34" charset="-122"/>
                <a:cs typeface="Cambria" pitchFamily="34" charset="-120"/>
              </a:rPr>
              <a:t>PHẦN 01</a:t>
            </a:r>
            <a:endParaRPr lang="en-US" sz="6000" dirty="0"/>
          </a:p>
        </p:txBody>
      </p:sp>
      <p:sp>
        <p:nvSpPr>
          <p:cNvPr id="4" name="Text 2"/>
          <p:cNvSpPr/>
          <p:nvPr/>
        </p:nvSpPr>
        <p:spPr>
          <a:xfrm>
            <a:off x="822960" y="3200400"/>
            <a:ext cx="9601200" cy="10058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Phân tích hiệu suất kinh doanh theo tháng</a:t>
            </a:r>
            <a:endParaRPr lang="en-US" sz="3200" dirty="0"/>
          </a:p>
        </p:txBody>
      </p:sp>
      <p:sp>
        <p:nvSpPr>
          <p:cNvPr id="5" name="Text 3"/>
          <p:cNvSpPr/>
          <p:nvPr/>
        </p:nvSpPr>
        <p:spPr>
          <a:xfrm>
            <a:off x="822960" y="4069080"/>
            <a:ext cx="9144000" cy="5486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Đánh giá xu hướng biến động Revenue, Jobs và các KPI vận hành giai đoạn 01–06/2026</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KEY FINDING 01</a:t>
            </a:r>
            <a:endParaRPr lang="en-US" sz="1200" dirty="0"/>
          </a:p>
        </p:txBody>
      </p:sp>
      <p:sp>
        <p:nvSpPr>
          <p:cNvPr id="3" name="Text 1"/>
          <p:cNvSpPr/>
          <p:nvPr/>
        </p:nvSpPr>
        <p:spPr>
          <a:xfrm>
            <a:off x="548640" y="594360"/>
            <a:ext cx="10515600" cy="548640"/>
          </a:xfrm>
          <a:prstGeom prst="rect">
            <a:avLst/>
          </a:prstGeom>
          <a:noFill/>
          <a:ln/>
        </p:spPr>
        <p:txBody>
          <a:bodyPr wrap="square" rtlCol="0" anchor="ctr"/>
          <a:lstStyle/>
          <a:p>
            <a:pPr indent="0" marL="0">
              <a:buNone/>
            </a:pPr>
            <a:r>
              <a:rPr lang="en-US" sz="2200" b="1" dirty="0">
                <a:solidFill>
                  <a:srgbClr val="1F2430"/>
                </a:solidFill>
                <a:latin typeface="Cambria" pitchFamily="34" charset="0"/>
                <a:ea typeface="Cambria" pitchFamily="34" charset="-122"/>
                <a:cs typeface="Cambria" pitchFamily="34" charset="-120"/>
              </a:rPr>
              <a:t>Revenue và Jobs biến động gần như cùng chiều</a:t>
            </a:r>
            <a:endParaRPr lang="en-US" sz="2200" dirty="0"/>
          </a:p>
        </p:txBody>
      </p:sp>
      <p:graphicFrame>
        <p:nvGraphicFramePr>
          <p:cNvPr id="4" name="Chart 0" descr=""/>
          <p:cNvGraphicFramePr/>
          <p:nvPr/>
        </p:nvGraphicFramePr>
        <p:xfrm>
          <a:off x="548640" y="1325880"/>
          <a:ext cx="70408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325880"/>
            <a:ext cx="3840480" cy="4206240"/>
          </a:xfrm>
          <a:prstGeom prst="roundRect">
            <a:avLst>
              <a:gd name="adj" fmla="val 1905"/>
            </a:avLst>
          </a:prstGeom>
          <a:solidFill>
            <a:srgbClr val="F4F6FB"/>
          </a:solidFill>
          <a:ln/>
        </p:spPr>
      </p:sp>
      <p:sp>
        <p:nvSpPr>
          <p:cNvPr id="6" name="Text 3"/>
          <p:cNvSpPr/>
          <p:nvPr/>
        </p:nvSpPr>
        <p:spPr>
          <a:xfrm>
            <a:off x="8092440" y="1508760"/>
            <a:ext cx="32918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Diễn biến chính</a:t>
            </a:r>
            <a:endParaRPr lang="en-US" sz="1400" dirty="0"/>
          </a:p>
        </p:txBody>
      </p:sp>
      <p:sp>
        <p:nvSpPr>
          <p:cNvPr id="7" name="Text 4"/>
          <p:cNvSpPr/>
          <p:nvPr/>
        </p:nvSpPr>
        <p:spPr>
          <a:xfrm>
            <a:off x="8092440" y="1965960"/>
            <a:ext cx="3291840" cy="640080"/>
          </a:xfrm>
          <a:prstGeom prst="rect">
            <a:avLst/>
          </a:prstGeom>
          <a:noFill/>
          <a:ln/>
        </p:spPr>
        <p:txBody>
          <a:bodyPr wrap="square" lIns="0" tIns="0" rIns="0" bIns="0" rtlCol="0" anchor="ctr"/>
          <a:lstStyle/>
          <a:p>
            <a:pPr indent="0" marL="0">
              <a:lnSpc>
                <a:spcPts val="1600"/>
              </a:lnSpc>
              <a:buNone/>
            </a:pPr>
            <a:r>
              <a:rPr lang="en-US" sz="1200" b="1" dirty="0">
                <a:solidFill>
                  <a:srgbClr val="1F2430"/>
                </a:solidFill>
                <a:latin typeface="Calibri" pitchFamily="34" charset="0"/>
                <a:ea typeface="Calibri" pitchFamily="34" charset="-122"/>
                <a:cs typeface="Calibri" pitchFamily="34" charset="-120"/>
              </a:rPr>
              <a:t>Tháng 05/2026 – cao nhất: </a:t>
            </a:r>
            <a:pPr indent="0" marL="0">
              <a:lnSpc>
                <a:spcPts val="1600"/>
              </a:lnSpc>
              <a:buNone/>
            </a:pPr>
            <a:r>
              <a:rPr lang="en-US" sz="1200" dirty="0">
                <a:solidFill>
                  <a:srgbClr val="1F2430"/>
                </a:solidFill>
                <a:latin typeface="Calibri" pitchFamily="34" charset="0"/>
                <a:ea typeface="Calibri" pitchFamily="34" charset="-122"/>
                <a:cs typeface="Calibri" pitchFamily="34" charset="-120"/>
              </a:rPr>
              <a:t>Revenue 17.447 triệu, Jobs 11.673</a:t>
            </a:r>
            <a:endParaRPr lang="en-US" sz="1200" dirty="0"/>
          </a:p>
        </p:txBody>
      </p:sp>
      <p:sp>
        <p:nvSpPr>
          <p:cNvPr id="8" name="Text 5"/>
          <p:cNvSpPr/>
          <p:nvPr/>
        </p:nvSpPr>
        <p:spPr>
          <a:xfrm>
            <a:off x="8092440" y="2651760"/>
            <a:ext cx="3291840" cy="640080"/>
          </a:xfrm>
          <a:prstGeom prst="rect">
            <a:avLst/>
          </a:prstGeom>
          <a:noFill/>
          <a:ln/>
        </p:spPr>
        <p:txBody>
          <a:bodyPr wrap="square" lIns="0" tIns="0" rIns="0" bIns="0" rtlCol="0" anchor="ctr"/>
          <a:lstStyle/>
          <a:p>
            <a:pPr indent="0" marL="0">
              <a:lnSpc>
                <a:spcPts val="1600"/>
              </a:lnSpc>
              <a:buNone/>
            </a:pPr>
            <a:r>
              <a:rPr lang="en-US" sz="1200" b="1" dirty="0">
                <a:solidFill>
                  <a:srgbClr val="1F2430"/>
                </a:solidFill>
                <a:latin typeface="Calibri" pitchFamily="34" charset="0"/>
                <a:ea typeface="Calibri" pitchFamily="34" charset="-122"/>
                <a:cs typeface="Calibri" pitchFamily="34" charset="-120"/>
              </a:rPr>
              <a:t>Tháng 04/2026 – thấp nhất: </a:t>
            </a:r>
            <a:pPr indent="0" marL="0">
              <a:lnSpc>
                <a:spcPts val="1600"/>
              </a:lnSpc>
              <a:buNone/>
            </a:pPr>
            <a:r>
              <a:rPr lang="en-US" sz="1200" dirty="0">
                <a:solidFill>
                  <a:srgbClr val="1F2430"/>
                </a:solidFill>
                <a:latin typeface="Calibri" pitchFamily="34" charset="0"/>
                <a:ea typeface="Calibri" pitchFamily="34" charset="-122"/>
                <a:cs typeface="Calibri" pitchFamily="34" charset="-120"/>
              </a:rPr>
              <a:t>Revenue 11.226 triệu, Jobs 7.522</a:t>
            </a:r>
            <a:endParaRPr lang="en-US" sz="1200" dirty="0"/>
          </a:p>
        </p:txBody>
      </p:sp>
      <p:sp>
        <p:nvSpPr>
          <p:cNvPr id="9" name="Shape 6"/>
          <p:cNvSpPr/>
          <p:nvPr/>
        </p:nvSpPr>
        <p:spPr>
          <a:xfrm>
            <a:off x="8092440" y="3429000"/>
            <a:ext cx="3291840" cy="0"/>
          </a:xfrm>
          <a:prstGeom prst="line">
            <a:avLst/>
          </a:prstGeom>
          <a:noFill/>
          <a:ln w="12700">
            <a:solidFill>
              <a:srgbClr val="D8DCE8"/>
            </a:solidFill>
            <a:prstDash val="solid"/>
          </a:ln>
        </p:spPr>
      </p:sp>
      <p:sp>
        <p:nvSpPr>
          <p:cNvPr id="10" name="Text 7"/>
          <p:cNvSpPr/>
          <p:nvPr/>
        </p:nvSpPr>
        <p:spPr>
          <a:xfrm>
            <a:off x="8092440" y="3566160"/>
            <a:ext cx="32918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Hệ số biến thiên (CV)</a:t>
            </a:r>
            <a:endParaRPr lang="en-US" sz="1300" dirty="0"/>
          </a:p>
        </p:txBody>
      </p:sp>
      <p:sp>
        <p:nvSpPr>
          <p:cNvPr id="11" name="Text 8"/>
          <p:cNvSpPr/>
          <p:nvPr/>
        </p:nvSpPr>
        <p:spPr>
          <a:xfrm>
            <a:off x="8092440" y="3931920"/>
            <a:ext cx="3291840" cy="36576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Revenue CV = 17,38%      Jobs CV = 17,35%</a:t>
            </a:r>
            <a:endParaRPr lang="en-US" sz="1200" dirty="0"/>
          </a:p>
        </p:txBody>
      </p:sp>
      <p:sp>
        <p:nvSpPr>
          <p:cNvPr id="12" name="Text 9"/>
          <p:cNvSpPr/>
          <p:nvPr/>
        </p:nvSpPr>
        <p:spPr>
          <a:xfrm>
            <a:off x="8092440" y="4389120"/>
            <a:ext cx="3291840" cy="1051560"/>
          </a:xfrm>
          <a:prstGeom prst="rect">
            <a:avLst/>
          </a:prstGeom>
          <a:noFill/>
          <a:ln/>
        </p:spPr>
        <p:txBody>
          <a:bodyPr wrap="square" lIns="0" tIns="0" rIns="0" bIns="0" rtlCol="0" anchor="ctr"/>
          <a:lstStyle/>
          <a:p>
            <a:pPr indent="0" marL="0">
              <a:lnSpc>
                <a:spcPts val="1500"/>
              </a:lnSpc>
              <a:buNone/>
            </a:pPr>
            <a:r>
              <a:rPr lang="en-US" sz="1150" i="1" dirty="0">
                <a:solidFill>
                  <a:srgbClr val="6B7280"/>
                </a:solidFill>
                <a:latin typeface="Calibri" pitchFamily="34" charset="0"/>
                <a:ea typeface="Calibri" pitchFamily="34" charset="-122"/>
                <a:cs typeface="Calibri" pitchFamily="34" charset="-120"/>
              </a:rPr>
              <a:t>Hai chỉ số có mức biến thiên gần như tương đồng → khối lượng Jobs là động lực chính tạo nên biến động doanh thu.</a:t>
            </a:r>
            <a:endParaRPr lang="en-US" sz="1150" dirty="0"/>
          </a:p>
        </p:txBody>
      </p:sp>
      <p:sp>
        <p:nvSpPr>
          <p:cNvPr id="13" name="Text 1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14" name="Text 11"/>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KEY FINDING 01 — SỐ LIỆU</a:t>
            </a:r>
            <a:endParaRPr lang="en-US" sz="1200" dirty="0"/>
          </a:p>
        </p:txBody>
      </p:sp>
      <p:sp>
        <p:nvSpPr>
          <p:cNvPr id="3" name="Text 1"/>
          <p:cNvSpPr/>
          <p:nvPr/>
        </p:nvSpPr>
        <p:spPr>
          <a:xfrm>
            <a:off x="548640" y="594360"/>
            <a:ext cx="10515600" cy="548640"/>
          </a:xfrm>
          <a:prstGeom prst="rect">
            <a:avLst/>
          </a:prstGeom>
          <a:noFill/>
          <a:ln/>
        </p:spPr>
        <p:txBody>
          <a:bodyPr wrap="square" rtlCol="0" anchor="ctr"/>
          <a:lstStyle/>
          <a:p>
            <a:pPr indent="0" marL="0">
              <a:buNone/>
            </a:pPr>
            <a:r>
              <a:rPr lang="en-US" sz="2200" b="1" dirty="0">
                <a:solidFill>
                  <a:srgbClr val="1F2430"/>
                </a:solidFill>
                <a:latin typeface="Cambria" pitchFamily="34" charset="0"/>
                <a:ea typeface="Cambria" pitchFamily="34" charset="-122"/>
                <a:cs typeface="Cambria" pitchFamily="34" charset="-120"/>
              </a:rPr>
              <a:t>Biến động Revenue &amp; Jobs theo tháng (MoM)</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2926080"/>
        </p:xfrm>
        <a:graphic>
          <a:graphicData uri="http://schemas.openxmlformats.org/drawingml/2006/table">
            <a:tbl>
              <a:tblPr/>
              <a:tblGrid>
                <a:gridCol w="1737360"/>
                <a:gridCol w="2011680"/>
                <a:gridCol w="201168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Tháng</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 Δ Revenue</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 Δ Jobs</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02/2026</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8F5F"/>
                          </a:solidFill>
                          <a:latin typeface="Calibri" pitchFamily="34" charset="0"/>
                          <a:ea typeface="Calibri" pitchFamily="34" charset="-122"/>
                          <a:cs typeface="Calibri" pitchFamily="34" charset="-120"/>
                        </a:rPr>
                        <a:t>▲ +16,03%</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8F5F"/>
                          </a:solidFill>
                          <a:latin typeface="Calibri" pitchFamily="34" charset="0"/>
                          <a:ea typeface="Calibri" pitchFamily="34" charset="-122"/>
                          <a:cs typeface="Calibri" pitchFamily="34" charset="-120"/>
                        </a:rPr>
                        <a:t>▲ +16,20%</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03/2026</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 -9,60%</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 -8,92%</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04/2026</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 -10,76%</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 -10,19%</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05/2026</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300" dirty="0">
                          <a:solidFill>
                            <a:srgbClr val="1E8F5F"/>
                          </a:solidFill>
                          <a:latin typeface="Calibri" pitchFamily="34" charset="0"/>
                          <a:ea typeface="Calibri" pitchFamily="34" charset="-122"/>
                          <a:cs typeface="Calibri" pitchFamily="34" charset="-120"/>
                        </a:rPr>
                        <a:t>▲ +55,42%</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300" dirty="0">
                          <a:solidFill>
                            <a:srgbClr val="1E8F5F"/>
                          </a:solidFill>
                          <a:latin typeface="Calibri" pitchFamily="34" charset="0"/>
                          <a:ea typeface="Calibri" pitchFamily="34" charset="-122"/>
                          <a:cs typeface="Calibri" pitchFamily="34" charset="-120"/>
                        </a:rPr>
                        <a:t>▲ +55,18%</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06/2026</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 -17,74%</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C0392B"/>
                          </a:solidFill>
                          <a:latin typeface="Calibri" pitchFamily="34" charset="0"/>
                          <a:ea typeface="Calibri" pitchFamily="34" charset="-122"/>
                          <a:cs typeface="Calibri" pitchFamily="34" charset="-120"/>
                        </a:rPr>
                        <a:t>▼ -17,89%</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Shape 2"/>
          <p:cNvSpPr/>
          <p:nvPr/>
        </p:nvSpPr>
        <p:spPr>
          <a:xfrm>
            <a:off x="6675120" y="1371600"/>
            <a:ext cx="4937760" cy="2926080"/>
          </a:xfrm>
          <a:prstGeom prst="roundRect">
            <a:avLst>
              <a:gd name="adj" fmla="val 2500"/>
            </a:avLst>
          </a:prstGeom>
          <a:solidFill>
            <a:srgbClr val="F4F6FB"/>
          </a:solidFill>
          <a:ln/>
        </p:spPr>
      </p:sp>
      <p:sp>
        <p:nvSpPr>
          <p:cNvPr id="6" name="Text 3"/>
          <p:cNvSpPr/>
          <p:nvPr/>
        </p:nvSpPr>
        <p:spPr>
          <a:xfrm>
            <a:off x="6949440" y="1554480"/>
            <a:ext cx="438912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Business Insight</a:t>
            </a:r>
            <a:endParaRPr lang="en-US" sz="1400" dirty="0"/>
          </a:p>
        </p:txBody>
      </p:sp>
      <p:sp>
        <p:nvSpPr>
          <p:cNvPr id="7" name="Text 4"/>
          <p:cNvSpPr/>
          <p:nvPr/>
        </p:nvSpPr>
        <p:spPr>
          <a:xfrm>
            <a:off x="6949440" y="1965960"/>
            <a:ext cx="4389120" cy="2194560"/>
          </a:xfrm>
          <a:prstGeom prst="rect">
            <a:avLst/>
          </a:prstGeom>
          <a:noFill/>
          <a:ln/>
        </p:spPr>
        <p:txBody>
          <a:bodyPr wrap="square" lIns="0" tIns="0" rIns="0" bIns="0" rtlCol="0" anchor="ctr"/>
          <a:lstStyle/>
          <a:p>
            <a:pPr indent="0" marL="0">
              <a:lnSpc>
                <a:spcPts val="1900"/>
              </a:lnSpc>
              <a:buNone/>
            </a:pPr>
            <a:r>
              <a:rPr lang="en-US" sz="1300" dirty="0">
                <a:solidFill>
                  <a:srgbClr val="1F2430"/>
                </a:solidFill>
                <a:latin typeface="Calibri" pitchFamily="34" charset="0"/>
                <a:ea typeface="Calibri" pitchFamily="34" charset="-122"/>
                <a:cs typeface="Calibri" pitchFamily="34" charset="-120"/>
              </a:rPr>
              <a:t>Revenue và Jobs có hệ số biến thiên gần như giống nhau (17,38% và 17,35%), tỷ lệ tăng giảm theo tháng cũng gần tương ứng.</a:t>
            </a:r>
            <a:endParaRPr lang="en-US" sz="1300" dirty="0"/>
          </a:p>
          <a:p>
            <a:pPr indent="0" marL="0">
              <a:lnSpc>
                <a:spcPts val="1900"/>
              </a:lnSpc>
              <a:buNone/>
            </a:pPr>
            <a:endParaRPr lang="en-US" sz="1300" dirty="0"/>
          </a:p>
          <a:p>
            <a:pPr indent="0" marL="0">
              <a:lnSpc>
                <a:spcPts val="1900"/>
              </a:lnSpc>
              <a:buNone/>
            </a:pPr>
            <a:r>
              <a:rPr lang="en-US" sz="1300" dirty="0">
                <a:solidFill>
                  <a:srgbClr val="1F2430"/>
                </a:solidFill>
                <a:latin typeface="Calibri" pitchFamily="34" charset="0"/>
                <a:ea typeface="Calibri" pitchFamily="34" charset="-122"/>
                <a:cs typeface="Calibri" pitchFamily="34" charset="-120"/>
              </a:rPr>
              <a:t>Điều này cho thấy khối lượng đơn hàng (Jobs) là động lực chính tạo nên biến động doanh thu trong giai đoạn phân tích, thay vì thay đổi giá trị trung bình mỗi đơn hàng.</a:t>
            </a:r>
            <a:endParaRPr lang="en-US" sz="1300" dirty="0"/>
          </a:p>
        </p:txBody>
      </p:sp>
      <p:sp>
        <p:nvSpPr>
          <p:cNvPr id="8" name="Text 5"/>
          <p:cNvSpPr/>
          <p:nvPr/>
        </p:nvSpPr>
        <p:spPr>
          <a:xfrm>
            <a:off x="548640" y="4526280"/>
            <a:ext cx="11064240" cy="731520"/>
          </a:xfrm>
          <a:prstGeom prst="rect">
            <a:avLst/>
          </a:prstGeom>
          <a:noFill/>
          <a:ln/>
        </p:spPr>
        <p:txBody>
          <a:bodyPr wrap="square" rtlCol="0" anchor="ctr"/>
          <a:lstStyle/>
          <a:p>
            <a:pPr indent="0" marL="0">
              <a:lnSpc>
                <a:spcPts val="1700"/>
              </a:lnSpc>
              <a:buNone/>
            </a:pPr>
            <a:r>
              <a:rPr lang="en-US" sz="1250" i="1" dirty="0">
                <a:solidFill>
                  <a:srgbClr val="6B7280"/>
                </a:solidFill>
                <a:latin typeface="Calibri" pitchFamily="34" charset="0"/>
                <a:ea typeface="Calibri" pitchFamily="34" charset="-122"/>
                <a:cs typeface="Calibri" pitchFamily="34" charset="-120"/>
              </a:rPr>
              <a:t>Sau khi tăng trong 02/2026, cả hai chỉ số giảm liên tiếp trong 03–04/2026, tăng mạnh trong 05/2026 trước khi giảm trở lại trong 06/2026.</a:t>
            </a:r>
            <a:endParaRPr lang="en-US" sz="1250" dirty="0"/>
          </a:p>
        </p:txBody>
      </p:sp>
      <p:sp>
        <p:nvSpPr>
          <p:cNvPr id="9" name="Text 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10" name="Text 7"/>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KEY FINDING 02</a:t>
            </a:r>
            <a:endParaRPr lang="en-US" sz="1200" dirty="0"/>
          </a:p>
        </p:txBody>
      </p:sp>
      <p:sp>
        <p:nvSpPr>
          <p:cNvPr id="3" name="Text 1"/>
          <p:cNvSpPr/>
          <p:nvPr/>
        </p:nvSpPr>
        <p:spPr>
          <a:xfrm>
            <a:off x="548640" y="594360"/>
            <a:ext cx="10515600" cy="548640"/>
          </a:xfrm>
          <a:prstGeom prst="rect">
            <a:avLst/>
          </a:prstGeom>
          <a:noFill/>
          <a:ln/>
        </p:spPr>
        <p:txBody>
          <a:bodyPr wrap="square" rtlCol="0" anchor="ctr"/>
          <a:lstStyle/>
          <a:p>
            <a:pPr indent="0" marL="0">
              <a:buNone/>
            </a:pPr>
            <a:r>
              <a:rPr lang="en-US" sz="2200" b="1" dirty="0">
                <a:solidFill>
                  <a:srgbClr val="1F2430"/>
                </a:solidFill>
                <a:latin typeface="Cambria" pitchFamily="34" charset="0"/>
                <a:ea typeface="Cambria" pitchFamily="34" charset="-122"/>
                <a:cs typeface="Cambria" pitchFamily="34" charset="-120"/>
              </a:rPr>
              <a:t>Revenue per Job duy trì ổn định suốt 6 tháng</a:t>
            </a:r>
            <a:endParaRPr lang="en-US" sz="2200" dirty="0"/>
          </a:p>
        </p:txBody>
      </p:sp>
      <p:graphicFrame>
        <p:nvGraphicFramePr>
          <p:cNvPr id="4" name="Chart 0" descr=""/>
          <p:cNvGraphicFramePr/>
          <p:nvPr/>
        </p:nvGraphicFramePr>
        <p:xfrm>
          <a:off x="548640" y="1371600"/>
          <a:ext cx="704088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371600"/>
            <a:ext cx="3840480" cy="868680"/>
          </a:xfrm>
          <a:prstGeom prst="roundRect">
            <a:avLst>
              <a:gd name="adj" fmla="val 8421"/>
            </a:avLst>
          </a:prstGeom>
          <a:solidFill>
            <a:srgbClr val="F4F6FB"/>
          </a:solidFill>
          <a:ln/>
        </p:spPr>
      </p:sp>
      <p:sp>
        <p:nvSpPr>
          <p:cNvPr id="6" name="Text 3"/>
          <p:cNvSpPr/>
          <p:nvPr/>
        </p:nvSpPr>
        <p:spPr>
          <a:xfrm>
            <a:off x="8046720" y="1444752"/>
            <a:ext cx="1920240" cy="713232"/>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1,49 – 1,52</a:t>
            </a:r>
            <a:endParaRPr lang="en-US" sz="2200" dirty="0"/>
          </a:p>
        </p:txBody>
      </p:sp>
      <p:sp>
        <p:nvSpPr>
          <p:cNvPr id="7" name="Text 4"/>
          <p:cNvSpPr/>
          <p:nvPr/>
        </p:nvSpPr>
        <p:spPr>
          <a:xfrm>
            <a:off x="9738360" y="1444752"/>
            <a:ext cx="1737360" cy="7132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Khoảng dao động (triệu đ)</a:t>
            </a:r>
            <a:endParaRPr lang="en-US" sz="1150" dirty="0"/>
          </a:p>
        </p:txBody>
      </p:sp>
      <p:sp>
        <p:nvSpPr>
          <p:cNvPr id="8" name="Shape 5"/>
          <p:cNvSpPr/>
          <p:nvPr/>
        </p:nvSpPr>
        <p:spPr>
          <a:xfrm>
            <a:off x="7818120" y="2423160"/>
            <a:ext cx="3840480" cy="868680"/>
          </a:xfrm>
          <a:prstGeom prst="roundRect">
            <a:avLst>
              <a:gd name="adj" fmla="val 8421"/>
            </a:avLst>
          </a:prstGeom>
          <a:solidFill>
            <a:srgbClr val="F4F6FB"/>
          </a:solidFill>
          <a:ln/>
        </p:spPr>
      </p:sp>
      <p:sp>
        <p:nvSpPr>
          <p:cNvPr id="9" name="Text 6"/>
          <p:cNvSpPr/>
          <p:nvPr/>
        </p:nvSpPr>
        <p:spPr>
          <a:xfrm>
            <a:off x="8046720" y="2496312"/>
            <a:ext cx="1920240" cy="713232"/>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1,50</a:t>
            </a:r>
            <a:endParaRPr lang="en-US" sz="2200" dirty="0"/>
          </a:p>
        </p:txBody>
      </p:sp>
      <p:sp>
        <p:nvSpPr>
          <p:cNvPr id="10" name="Text 7"/>
          <p:cNvSpPr/>
          <p:nvPr/>
        </p:nvSpPr>
        <p:spPr>
          <a:xfrm>
            <a:off x="9738360" y="2496312"/>
            <a:ext cx="1737360" cy="7132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Giá trị trung bình</a:t>
            </a:r>
            <a:endParaRPr lang="en-US" sz="1150" dirty="0"/>
          </a:p>
        </p:txBody>
      </p:sp>
      <p:sp>
        <p:nvSpPr>
          <p:cNvPr id="11" name="Shape 8"/>
          <p:cNvSpPr/>
          <p:nvPr/>
        </p:nvSpPr>
        <p:spPr>
          <a:xfrm>
            <a:off x="7818120" y="3474720"/>
            <a:ext cx="3840480" cy="868680"/>
          </a:xfrm>
          <a:prstGeom prst="roundRect">
            <a:avLst>
              <a:gd name="adj" fmla="val 8421"/>
            </a:avLst>
          </a:prstGeom>
          <a:solidFill>
            <a:srgbClr val="F4F6FB"/>
          </a:solidFill>
          <a:ln/>
        </p:spPr>
      </p:sp>
      <p:sp>
        <p:nvSpPr>
          <p:cNvPr id="12" name="Text 9"/>
          <p:cNvSpPr/>
          <p:nvPr/>
        </p:nvSpPr>
        <p:spPr>
          <a:xfrm>
            <a:off x="8046720" y="3547872"/>
            <a:ext cx="1920240" cy="713232"/>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0,79%</a:t>
            </a:r>
            <a:endParaRPr lang="en-US" sz="2200" dirty="0"/>
          </a:p>
        </p:txBody>
      </p:sp>
      <p:sp>
        <p:nvSpPr>
          <p:cNvPr id="13" name="Text 10"/>
          <p:cNvSpPr/>
          <p:nvPr/>
        </p:nvSpPr>
        <p:spPr>
          <a:xfrm>
            <a:off x="9738360" y="3547872"/>
            <a:ext cx="1737360" cy="71323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Hệ số biến thiên (CV)</a:t>
            </a:r>
            <a:endParaRPr lang="en-US" sz="1150" dirty="0"/>
          </a:p>
        </p:txBody>
      </p:sp>
      <p:sp>
        <p:nvSpPr>
          <p:cNvPr id="14" name="Text 11"/>
          <p:cNvSpPr/>
          <p:nvPr/>
        </p:nvSpPr>
        <p:spPr>
          <a:xfrm>
            <a:off x="7818120" y="4572000"/>
            <a:ext cx="3840480" cy="1005840"/>
          </a:xfrm>
          <a:prstGeom prst="rect">
            <a:avLst/>
          </a:prstGeom>
          <a:noFill/>
          <a:ln/>
        </p:spPr>
        <p:txBody>
          <a:bodyPr wrap="square" rtlCol="0" anchor="ctr"/>
          <a:lstStyle/>
          <a:p>
            <a:pPr indent="0" marL="0">
              <a:lnSpc>
                <a:spcPts val="1500"/>
              </a:lnSpc>
              <a:buNone/>
            </a:pPr>
            <a:r>
              <a:rPr lang="en-US" sz="1150" i="1" dirty="0">
                <a:solidFill>
                  <a:srgbClr val="6B7280"/>
                </a:solidFill>
                <a:latin typeface="Calibri" pitchFamily="34" charset="0"/>
                <a:ea typeface="Calibri" pitchFamily="34" charset="-122"/>
                <a:cs typeface="Calibri" pitchFamily="34" charset="-120"/>
              </a:rPr>
              <a:t>CV dưới 1% cho thấy giá trị trung bình mỗi đơn hàng gần như không đổi giữa các tháng → doanh thu biến động chủ yếu do số lượng Jobs, không phải giá trị từng đơn.</a:t>
            </a:r>
            <a:endParaRPr lang="en-US" sz="1150" dirty="0"/>
          </a:p>
        </p:txBody>
      </p:sp>
      <p:sp>
        <p:nvSpPr>
          <p:cNvPr id="15" name="Text 1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16" name="Text 13"/>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KEY FINDING 03</a:t>
            </a:r>
            <a:endParaRPr lang="en-US" sz="1200" dirty="0"/>
          </a:p>
        </p:txBody>
      </p:sp>
      <p:sp>
        <p:nvSpPr>
          <p:cNvPr id="3" name="Text 1"/>
          <p:cNvSpPr/>
          <p:nvPr/>
        </p:nvSpPr>
        <p:spPr>
          <a:xfrm>
            <a:off x="548640" y="594360"/>
            <a:ext cx="10515600" cy="548640"/>
          </a:xfrm>
          <a:prstGeom prst="rect">
            <a:avLst/>
          </a:prstGeom>
          <a:noFill/>
          <a:ln/>
        </p:spPr>
        <p:txBody>
          <a:bodyPr wrap="square" rtlCol="0" anchor="ctr"/>
          <a:lstStyle/>
          <a:p>
            <a:pPr indent="0" marL="0">
              <a:buNone/>
            </a:pPr>
            <a:r>
              <a:rPr lang="en-US" sz="2200" b="1" dirty="0">
                <a:solidFill>
                  <a:srgbClr val="1F2430"/>
                </a:solidFill>
                <a:latin typeface="Cambria" pitchFamily="34" charset="0"/>
                <a:ea typeface="Cambria" pitchFamily="34" charset="-122"/>
                <a:cs typeface="Cambria" pitchFamily="34" charset="-120"/>
              </a:rPr>
              <a:t>Tháng 05 bứt phá — Tháng 04 chạm đáy</a:t>
            </a:r>
            <a:endParaRPr lang="en-US" sz="2200" dirty="0"/>
          </a:p>
        </p:txBody>
      </p:sp>
      <p:sp>
        <p:nvSpPr>
          <p:cNvPr id="4" name="Shape 2"/>
          <p:cNvSpPr/>
          <p:nvPr/>
        </p:nvSpPr>
        <p:spPr>
          <a:xfrm>
            <a:off x="548640" y="1417320"/>
            <a:ext cx="5394960" cy="4480560"/>
          </a:xfrm>
          <a:prstGeom prst="roundRect">
            <a:avLst>
              <a:gd name="adj" fmla="val 1633"/>
            </a:avLst>
          </a:prstGeom>
          <a:solidFill>
            <a:srgbClr val="F3F0EC"/>
          </a:solidFill>
          <a:ln/>
        </p:spPr>
      </p:sp>
      <p:sp>
        <p:nvSpPr>
          <p:cNvPr id="5" name="Text 3"/>
          <p:cNvSpPr/>
          <p:nvPr/>
        </p:nvSpPr>
        <p:spPr>
          <a:xfrm>
            <a:off x="822960" y="1645920"/>
            <a:ext cx="4846320" cy="365760"/>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THÁNG 04/2026</a:t>
            </a:r>
            <a:endParaRPr lang="en-US" sz="1400" dirty="0"/>
          </a:p>
        </p:txBody>
      </p:sp>
      <p:sp>
        <p:nvSpPr>
          <p:cNvPr id="6" name="Text 4"/>
          <p:cNvSpPr/>
          <p:nvPr/>
        </p:nvSpPr>
        <p:spPr>
          <a:xfrm>
            <a:off x="822960" y="2011680"/>
            <a:ext cx="4846320" cy="365760"/>
          </a:xfrm>
          <a:prstGeom prst="rect">
            <a:avLst/>
          </a:prstGeom>
          <a:noFill/>
          <a:ln/>
        </p:spPr>
        <p:txBody>
          <a:bodyPr wrap="square" lIns="0" tIns="0" rIns="0" bIns="0" rtlCol="0" anchor="ctr"/>
          <a:lstStyle/>
          <a:p>
            <a:pPr indent="0" marL="0">
              <a:buNone/>
            </a:pPr>
            <a:r>
              <a:rPr lang="en-US" sz="1600" dirty="0">
                <a:solidFill>
                  <a:srgbClr val="1F2430"/>
                </a:solidFill>
                <a:latin typeface="Cambria" pitchFamily="34" charset="0"/>
                <a:ea typeface="Cambria" pitchFamily="34" charset="-122"/>
                <a:cs typeface="Cambria" pitchFamily="34" charset="-120"/>
              </a:rPr>
              <a:t>Điểm thấp nhất trong kỳ</a:t>
            </a:r>
            <a:endParaRPr lang="en-US" sz="1600" dirty="0"/>
          </a:p>
        </p:txBody>
      </p:sp>
      <p:sp>
        <p:nvSpPr>
          <p:cNvPr id="7" name="Text 5"/>
          <p:cNvSpPr/>
          <p:nvPr/>
        </p:nvSpPr>
        <p:spPr>
          <a:xfrm>
            <a:off x="822960" y="2560320"/>
            <a:ext cx="2743200" cy="45720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Revenue</a:t>
            </a:r>
            <a:endParaRPr lang="en-US" sz="1300" dirty="0"/>
          </a:p>
        </p:txBody>
      </p:sp>
      <p:sp>
        <p:nvSpPr>
          <p:cNvPr id="8" name="Text 6"/>
          <p:cNvSpPr/>
          <p:nvPr/>
        </p:nvSpPr>
        <p:spPr>
          <a:xfrm>
            <a:off x="3566160" y="2560320"/>
            <a:ext cx="2103120" cy="457200"/>
          </a:xfrm>
          <a:prstGeom prst="rect">
            <a:avLst/>
          </a:prstGeom>
          <a:noFill/>
          <a:ln/>
        </p:spPr>
        <p:txBody>
          <a:bodyPr wrap="square" lIns="0" tIns="0" rIns="0" bIns="0" rtlCol="0" anchor="ctr"/>
          <a:lstStyle/>
          <a:p>
            <a:pPr algn="r" indent="0" marL="0">
              <a:buNone/>
            </a:pPr>
            <a:r>
              <a:rPr lang="en-US" sz="1300" b="1" dirty="0">
                <a:solidFill>
                  <a:srgbClr val="C0392B"/>
                </a:solidFill>
                <a:latin typeface="Calibri" pitchFamily="34" charset="0"/>
                <a:ea typeface="Calibri" pitchFamily="34" charset="-122"/>
                <a:cs typeface="Calibri" pitchFamily="34" charset="-120"/>
              </a:rPr>
              <a:t>▼ -10,76%</a:t>
            </a:r>
            <a:endParaRPr lang="en-US" sz="1300" dirty="0"/>
          </a:p>
        </p:txBody>
      </p:sp>
      <p:sp>
        <p:nvSpPr>
          <p:cNvPr id="9" name="Text 7"/>
          <p:cNvSpPr/>
          <p:nvPr/>
        </p:nvSpPr>
        <p:spPr>
          <a:xfrm>
            <a:off x="822960" y="3127248"/>
            <a:ext cx="2743200" cy="45720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Jobs</a:t>
            </a:r>
            <a:endParaRPr lang="en-US" sz="1300" dirty="0"/>
          </a:p>
        </p:txBody>
      </p:sp>
      <p:sp>
        <p:nvSpPr>
          <p:cNvPr id="10" name="Text 8"/>
          <p:cNvSpPr/>
          <p:nvPr/>
        </p:nvSpPr>
        <p:spPr>
          <a:xfrm>
            <a:off x="3566160" y="3127248"/>
            <a:ext cx="2103120" cy="457200"/>
          </a:xfrm>
          <a:prstGeom prst="rect">
            <a:avLst/>
          </a:prstGeom>
          <a:noFill/>
          <a:ln/>
        </p:spPr>
        <p:txBody>
          <a:bodyPr wrap="square" lIns="0" tIns="0" rIns="0" bIns="0" rtlCol="0" anchor="ctr"/>
          <a:lstStyle/>
          <a:p>
            <a:pPr algn="r" indent="0" marL="0">
              <a:buNone/>
            </a:pPr>
            <a:r>
              <a:rPr lang="en-US" sz="1300" b="1" dirty="0">
                <a:solidFill>
                  <a:srgbClr val="C0392B"/>
                </a:solidFill>
                <a:latin typeface="Calibri" pitchFamily="34" charset="0"/>
                <a:ea typeface="Calibri" pitchFamily="34" charset="-122"/>
                <a:cs typeface="Calibri" pitchFamily="34" charset="-120"/>
              </a:rPr>
              <a:t>▼ -10,19%</a:t>
            </a:r>
            <a:endParaRPr lang="en-US" sz="1300" dirty="0"/>
          </a:p>
        </p:txBody>
      </p:sp>
      <p:sp>
        <p:nvSpPr>
          <p:cNvPr id="11" name="Text 9"/>
          <p:cNvSpPr/>
          <p:nvPr/>
        </p:nvSpPr>
        <p:spPr>
          <a:xfrm>
            <a:off x="822960" y="3694176"/>
            <a:ext cx="2743200" cy="45720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Repair Time</a:t>
            </a:r>
            <a:endParaRPr lang="en-US" sz="1300" dirty="0"/>
          </a:p>
        </p:txBody>
      </p:sp>
      <p:sp>
        <p:nvSpPr>
          <p:cNvPr id="12" name="Text 10"/>
          <p:cNvSpPr/>
          <p:nvPr/>
        </p:nvSpPr>
        <p:spPr>
          <a:xfrm>
            <a:off x="3566160" y="3694176"/>
            <a:ext cx="2103120" cy="457200"/>
          </a:xfrm>
          <a:prstGeom prst="rect">
            <a:avLst/>
          </a:prstGeom>
          <a:noFill/>
          <a:ln/>
        </p:spPr>
        <p:txBody>
          <a:bodyPr wrap="square" lIns="0" tIns="0" rIns="0" bIns="0" rtlCol="0" anchor="ctr"/>
          <a:lstStyle/>
          <a:p>
            <a:pPr algn="r" indent="0" marL="0">
              <a:buNone/>
            </a:pPr>
            <a:r>
              <a:rPr lang="en-US" sz="1300" b="1" dirty="0">
                <a:solidFill>
                  <a:srgbClr val="C0392B"/>
                </a:solidFill>
                <a:latin typeface="Calibri" pitchFamily="34" charset="0"/>
                <a:ea typeface="Calibri" pitchFamily="34" charset="-122"/>
                <a:cs typeface="Calibri" pitchFamily="34" charset="-120"/>
              </a:rPr>
              <a:t>▲ +2,27%</a:t>
            </a:r>
            <a:endParaRPr lang="en-US" sz="1300" dirty="0"/>
          </a:p>
        </p:txBody>
      </p:sp>
      <p:sp>
        <p:nvSpPr>
          <p:cNvPr id="13" name="Text 11"/>
          <p:cNvSpPr/>
          <p:nvPr/>
        </p:nvSpPr>
        <p:spPr>
          <a:xfrm>
            <a:off x="822960" y="4261104"/>
            <a:ext cx="2743200" cy="45720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Customer Rating</a:t>
            </a:r>
            <a:endParaRPr lang="en-US" sz="1300" dirty="0"/>
          </a:p>
        </p:txBody>
      </p:sp>
      <p:sp>
        <p:nvSpPr>
          <p:cNvPr id="14" name="Text 12"/>
          <p:cNvSpPr/>
          <p:nvPr/>
        </p:nvSpPr>
        <p:spPr>
          <a:xfrm>
            <a:off x="3566160" y="4261104"/>
            <a:ext cx="2103120" cy="457200"/>
          </a:xfrm>
          <a:prstGeom prst="rect">
            <a:avLst/>
          </a:prstGeom>
          <a:noFill/>
          <a:ln/>
        </p:spPr>
        <p:txBody>
          <a:bodyPr wrap="square" lIns="0" tIns="0" rIns="0" bIns="0" rtlCol="0" anchor="ctr"/>
          <a:lstStyle/>
          <a:p>
            <a:pPr algn="r" indent="0" marL="0">
              <a:buNone/>
            </a:pPr>
            <a:r>
              <a:rPr lang="en-US" sz="1300" b="1" dirty="0">
                <a:solidFill>
                  <a:srgbClr val="C0392B"/>
                </a:solidFill>
                <a:latin typeface="Calibri" pitchFamily="34" charset="0"/>
                <a:ea typeface="Calibri" pitchFamily="34" charset="-122"/>
                <a:cs typeface="Calibri" pitchFamily="34" charset="-120"/>
              </a:rPr>
              <a:t>▼ giảm</a:t>
            </a:r>
            <a:endParaRPr lang="en-US" sz="1300" dirty="0"/>
          </a:p>
        </p:txBody>
      </p:sp>
      <p:sp>
        <p:nvSpPr>
          <p:cNvPr id="15" name="Text 13"/>
          <p:cNvSpPr/>
          <p:nvPr/>
        </p:nvSpPr>
        <p:spPr>
          <a:xfrm>
            <a:off x="822960" y="4828032"/>
            <a:ext cx="2743200" cy="45720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Complaint Rate</a:t>
            </a:r>
            <a:endParaRPr lang="en-US" sz="1300" dirty="0"/>
          </a:p>
        </p:txBody>
      </p:sp>
      <p:sp>
        <p:nvSpPr>
          <p:cNvPr id="16" name="Text 14"/>
          <p:cNvSpPr/>
          <p:nvPr/>
        </p:nvSpPr>
        <p:spPr>
          <a:xfrm>
            <a:off x="3566160" y="4828032"/>
            <a:ext cx="2103120" cy="457200"/>
          </a:xfrm>
          <a:prstGeom prst="rect">
            <a:avLst/>
          </a:prstGeom>
          <a:noFill/>
          <a:ln/>
        </p:spPr>
        <p:txBody>
          <a:bodyPr wrap="square" lIns="0" tIns="0" rIns="0" bIns="0" rtlCol="0" anchor="ctr"/>
          <a:lstStyle/>
          <a:p>
            <a:pPr algn="r" indent="0" marL="0">
              <a:buNone/>
            </a:pPr>
            <a:r>
              <a:rPr lang="en-US" sz="1300" b="1" dirty="0">
                <a:solidFill>
                  <a:srgbClr val="C0392B"/>
                </a:solidFill>
                <a:latin typeface="Calibri" pitchFamily="34" charset="0"/>
                <a:ea typeface="Calibri" pitchFamily="34" charset="-122"/>
                <a:cs typeface="Calibri" pitchFamily="34" charset="-120"/>
              </a:rPr>
              <a:t>▲ +12,88%</a:t>
            </a:r>
            <a:endParaRPr lang="en-US" sz="1300" dirty="0"/>
          </a:p>
        </p:txBody>
      </p:sp>
      <p:sp>
        <p:nvSpPr>
          <p:cNvPr id="17" name="Shape 15"/>
          <p:cNvSpPr/>
          <p:nvPr/>
        </p:nvSpPr>
        <p:spPr>
          <a:xfrm>
            <a:off x="6217920" y="1417320"/>
            <a:ext cx="5394960" cy="4480560"/>
          </a:xfrm>
          <a:prstGeom prst="roundRect">
            <a:avLst>
              <a:gd name="adj" fmla="val 1633"/>
            </a:avLst>
          </a:prstGeom>
          <a:solidFill>
            <a:srgbClr val="1E2761"/>
          </a:solidFill>
          <a:ln/>
        </p:spPr>
      </p:sp>
      <p:sp>
        <p:nvSpPr>
          <p:cNvPr id="18" name="Text 16"/>
          <p:cNvSpPr/>
          <p:nvPr/>
        </p:nvSpPr>
        <p:spPr>
          <a:xfrm>
            <a:off x="6492240" y="1645920"/>
            <a:ext cx="4846320" cy="365760"/>
          </a:xfrm>
          <a:prstGeom prst="rect">
            <a:avLst/>
          </a:prstGeom>
          <a:noFill/>
          <a:ln/>
        </p:spPr>
        <p:txBody>
          <a:bodyPr wrap="square" lIns="0" tIns="0" rIns="0" bIns="0" rtlCol="0" anchor="ctr"/>
          <a:lstStyle/>
          <a:p>
            <a:pPr indent="0" marL="0">
              <a:buNone/>
            </a:pPr>
            <a:r>
              <a:rPr lang="en-US" sz="1400" b="1" dirty="0">
                <a:solidFill>
                  <a:srgbClr val="C9A44C"/>
                </a:solidFill>
                <a:latin typeface="Calibri" pitchFamily="34" charset="0"/>
                <a:ea typeface="Calibri" pitchFamily="34" charset="-122"/>
                <a:cs typeface="Calibri" pitchFamily="34" charset="-120"/>
              </a:rPr>
              <a:t>THÁNG 05/2026</a:t>
            </a:r>
            <a:endParaRPr lang="en-US" sz="1400" dirty="0"/>
          </a:p>
        </p:txBody>
      </p:sp>
      <p:sp>
        <p:nvSpPr>
          <p:cNvPr id="19" name="Text 17"/>
          <p:cNvSpPr/>
          <p:nvPr/>
        </p:nvSpPr>
        <p:spPr>
          <a:xfrm>
            <a:off x="6492240" y="2011680"/>
            <a:ext cx="4846320" cy="365760"/>
          </a:xfrm>
          <a:prstGeom prst="rect">
            <a:avLst/>
          </a:prstGeom>
          <a:noFill/>
          <a:ln/>
        </p:spPr>
        <p:txBody>
          <a:bodyPr wrap="square" lIns="0" tIns="0" rIns="0" bIns="0" rtlCol="0" anchor="ctr"/>
          <a:lstStyle/>
          <a:p>
            <a:pPr indent="0" marL="0">
              <a:buNone/>
            </a:pPr>
            <a:r>
              <a:rPr lang="en-US" sz="1600" dirty="0">
                <a:solidFill>
                  <a:srgbClr val="FFFFFF"/>
                </a:solidFill>
                <a:latin typeface="Cambria" pitchFamily="34" charset="0"/>
                <a:ea typeface="Cambria" pitchFamily="34" charset="-122"/>
                <a:cs typeface="Cambria" pitchFamily="34" charset="-120"/>
              </a:rPr>
              <a:t>Hiệu suất toàn diện nổi bật nhất</a:t>
            </a:r>
            <a:endParaRPr lang="en-US" sz="1600" dirty="0"/>
          </a:p>
        </p:txBody>
      </p:sp>
      <p:sp>
        <p:nvSpPr>
          <p:cNvPr id="20" name="Text 18"/>
          <p:cNvSpPr/>
          <p:nvPr/>
        </p:nvSpPr>
        <p:spPr>
          <a:xfrm>
            <a:off x="6492240" y="2560320"/>
            <a:ext cx="274320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Revenue</a:t>
            </a:r>
            <a:endParaRPr lang="en-US" sz="1300" dirty="0"/>
          </a:p>
        </p:txBody>
      </p:sp>
      <p:sp>
        <p:nvSpPr>
          <p:cNvPr id="21" name="Text 19"/>
          <p:cNvSpPr/>
          <p:nvPr/>
        </p:nvSpPr>
        <p:spPr>
          <a:xfrm>
            <a:off x="9235440" y="2560320"/>
            <a:ext cx="2103120" cy="457200"/>
          </a:xfrm>
          <a:prstGeom prst="rect">
            <a:avLst/>
          </a:prstGeom>
          <a:noFill/>
          <a:ln/>
        </p:spPr>
        <p:txBody>
          <a:bodyPr wrap="square" lIns="0" tIns="0" rIns="0" bIns="0" rtlCol="0" anchor="ctr"/>
          <a:lstStyle/>
          <a:p>
            <a:pPr algn="r" indent="0" marL="0">
              <a:buNone/>
            </a:pPr>
            <a:r>
              <a:rPr lang="en-US" sz="1300" b="1" dirty="0">
                <a:solidFill>
                  <a:srgbClr val="6FCF97"/>
                </a:solidFill>
                <a:latin typeface="Calibri" pitchFamily="34" charset="0"/>
                <a:ea typeface="Calibri" pitchFamily="34" charset="-122"/>
                <a:cs typeface="Calibri" pitchFamily="34" charset="-120"/>
              </a:rPr>
              <a:t>▲ +55,42%</a:t>
            </a:r>
            <a:endParaRPr lang="en-US" sz="1300" dirty="0"/>
          </a:p>
        </p:txBody>
      </p:sp>
      <p:sp>
        <p:nvSpPr>
          <p:cNvPr id="22" name="Text 20"/>
          <p:cNvSpPr/>
          <p:nvPr/>
        </p:nvSpPr>
        <p:spPr>
          <a:xfrm>
            <a:off x="6492240" y="3127248"/>
            <a:ext cx="274320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Jobs</a:t>
            </a:r>
            <a:endParaRPr lang="en-US" sz="1300" dirty="0"/>
          </a:p>
        </p:txBody>
      </p:sp>
      <p:sp>
        <p:nvSpPr>
          <p:cNvPr id="23" name="Text 21"/>
          <p:cNvSpPr/>
          <p:nvPr/>
        </p:nvSpPr>
        <p:spPr>
          <a:xfrm>
            <a:off x="9235440" y="3127248"/>
            <a:ext cx="2103120" cy="457200"/>
          </a:xfrm>
          <a:prstGeom prst="rect">
            <a:avLst/>
          </a:prstGeom>
          <a:noFill/>
          <a:ln/>
        </p:spPr>
        <p:txBody>
          <a:bodyPr wrap="square" lIns="0" tIns="0" rIns="0" bIns="0" rtlCol="0" anchor="ctr"/>
          <a:lstStyle/>
          <a:p>
            <a:pPr algn="r" indent="0" marL="0">
              <a:buNone/>
            </a:pPr>
            <a:r>
              <a:rPr lang="en-US" sz="1300" b="1" dirty="0">
                <a:solidFill>
                  <a:srgbClr val="6FCF97"/>
                </a:solidFill>
                <a:latin typeface="Calibri" pitchFamily="34" charset="0"/>
                <a:ea typeface="Calibri" pitchFamily="34" charset="-122"/>
                <a:cs typeface="Calibri" pitchFamily="34" charset="-120"/>
              </a:rPr>
              <a:t>▲ +55,18%</a:t>
            </a:r>
            <a:endParaRPr lang="en-US" sz="1300" dirty="0"/>
          </a:p>
        </p:txBody>
      </p:sp>
      <p:sp>
        <p:nvSpPr>
          <p:cNvPr id="24" name="Text 22"/>
          <p:cNvSpPr/>
          <p:nvPr/>
        </p:nvSpPr>
        <p:spPr>
          <a:xfrm>
            <a:off x="6492240" y="3694176"/>
            <a:ext cx="274320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Repair Time</a:t>
            </a:r>
            <a:endParaRPr lang="en-US" sz="1300" dirty="0"/>
          </a:p>
        </p:txBody>
      </p:sp>
      <p:sp>
        <p:nvSpPr>
          <p:cNvPr id="25" name="Text 23"/>
          <p:cNvSpPr/>
          <p:nvPr/>
        </p:nvSpPr>
        <p:spPr>
          <a:xfrm>
            <a:off x="9235440" y="3694176"/>
            <a:ext cx="2103120" cy="457200"/>
          </a:xfrm>
          <a:prstGeom prst="rect">
            <a:avLst/>
          </a:prstGeom>
          <a:noFill/>
          <a:ln/>
        </p:spPr>
        <p:txBody>
          <a:bodyPr wrap="square" lIns="0" tIns="0" rIns="0" bIns="0" rtlCol="0" anchor="ctr"/>
          <a:lstStyle/>
          <a:p>
            <a:pPr algn="r" indent="0" marL="0">
              <a:buNone/>
            </a:pPr>
            <a:r>
              <a:rPr lang="en-US" sz="1300" b="1" dirty="0">
                <a:solidFill>
                  <a:srgbClr val="6FCF97"/>
                </a:solidFill>
                <a:latin typeface="Calibri" pitchFamily="34" charset="0"/>
                <a:ea typeface="Calibri" pitchFamily="34" charset="-122"/>
                <a:cs typeface="Calibri" pitchFamily="34" charset="-120"/>
              </a:rPr>
              <a:t>▼ -0,49%</a:t>
            </a:r>
            <a:endParaRPr lang="en-US" sz="1300" dirty="0"/>
          </a:p>
        </p:txBody>
      </p:sp>
      <p:sp>
        <p:nvSpPr>
          <p:cNvPr id="26" name="Text 24"/>
          <p:cNvSpPr/>
          <p:nvPr/>
        </p:nvSpPr>
        <p:spPr>
          <a:xfrm>
            <a:off x="6492240" y="4261104"/>
            <a:ext cx="274320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Customer Rating</a:t>
            </a:r>
            <a:endParaRPr lang="en-US" sz="1300" dirty="0"/>
          </a:p>
        </p:txBody>
      </p:sp>
      <p:sp>
        <p:nvSpPr>
          <p:cNvPr id="27" name="Text 25"/>
          <p:cNvSpPr/>
          <p:nvPr/>
        </p:nvSpPr>
        <p:spPr>
          <a:xfrm>
            <a:off x="9235440" y="4261104"/>
            <a:ext cx="2103120" cy="457200"/>
          </a:xfrm>
          <a:prstGeom prst="rect">
            <a:avLst/>
          </a:prstGeom>
          <a:noFill/>
          <a:ln/>
        </p:spPr>
        <p:txBody>
          <a:bodyPr wrap="square" lIns="0" tIns="0" rIns="0" bIns="0" rtlCol="0" anchor="ctr"/>
          <a:lstStyle/>
          <a:p>
            <a:pPr algn="r" indent="0" marL="0">
              <a:buNone/>
            </a:pPr>
            <a:r>
              <a:rPr lang="en-US" sz="1300" b="1" dirty="0">
                <a:solidFill>
                  <a:srgbClr val="6FCF97"/>
                </a:solidFill>
                <a:latin typeface="Calibri" pitchFamily="34" charset="0"/>
                <a:ea typeface="Calibri" pitchFamily="34" charset="-122"/>
                <a:cs typeface="Calibri" pitchFamily="34" charset="-120"/>
              </a:rPr>
              <a:t>▲ +0,66%</a:t>
            </a:r>
            <a:endParaRPr lang="en-US" sz="1300" dirty="0"/>
          </a:p>
        </p:txBody>
      </p:sp>
      <p:sp>
        <p:nvSpPr>
          <p:cNvPr id="28" name="Text 26"/>
          <p:cNvSpPr/>
          <p:nvPr/>
        </p:nvSpPr>
        <p:spPr>
          <a:xfrm>
            <a:off x="6492240" y="4828032"/>
            <a:ext cx="274320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Complaint Rate</a:t>
            </a:r>
            <a:endParaRPr lang="en-US" sz="1300" dirty="0"/>
          </a:p>
        </p:txBody>
      </p:sp>
      <p:sp>
        <p:nvSpPr>
          <p:cNvPr id="29" name="Text 27"/>
          <p:cNvSpPr/>
          <p:nvPr/>
        </p:nvSpPr>
        <p:spPr>
          <a:xfrm>
            <a:off x="9235440" y="4828032"/>
            <a:ext cx="2103120" cy="457200"/>
          </a:xfrm>
          <a:prstGeom prst="rect">
            <a:avLst/>
          </a:prstGeom>
          <a:noFill/>
          <a:ln/>
        </p:spPr>
        <p:txBody>
          <a:bodyPr wrap="square" lIns="0" tIns="0" rIns="0" bIns="0" rtlCol="0" anchor="ctr"/>
          <a:lstStyle/>
          <a:p>
            <a:pPr algn="r" indent="0" marL="0">
              <a:buNone/>
            </a:pPr>
            <a:r>
              <a:rPr lang="en-US" sz="1300" b="1" dirty="0">
                <a:solidFill>
                  <a:srgbClr val="6FCF97"/>
                </a:solidFill>
                <a:latin typeface="Calibri" pitchFamily="34" charset="0"/>
                <a:ea typeface="Calibri" pitchFamily="34" charset="-122"/>
                <a:cs typeface="Calibri" pitchFamily="34" charset="-120"/>
              </a:rPr>
              <a:t>▼ -9,27%</a:t>
            </a:r>
            <a:endParaRPr lang="en-US" sz="1300" dirty="0"/>
          </a:p>
        </p:txBody>
      </p:sp>
      <p:sp>
        <p:nvSpPr>
          <p:cNvPr id="30" name="Text 28"/>
          <p:cNvSpPr/>
          <p:nvPr/>
        </p:nvSpPr>
        <p:spPr>
          <a:xfrm>
            <a:off x="548640" y="6035040"/>
            <a:ext cx="11064240" cy="50292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So với tháng 04, tháng 05 vừa tăng trưởng mạnh nhất về doanh thu &amp; sản lượng, vừa cải thiện chất lượng dịch vụ — chưa ghi nhận dấu hiệu suy giảm hiệu quả vận hành khi mở rộng quy mô.</a:t>
            </a:r>
            <a:endParaRPr lang="en-US" sz="1200" dirty="0"/>
          </a:p>
        </p:txBody>
      </p:sp>
      <p:sp>
        <p:nvSpPr>
          <p:cNvPr id="31" name="Text 29"/>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32" name="Text 30"/>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KEY FINDING 04 &amp; 06</a:t>
            </a:r>
            <a:endParaRPr lang="en-US" sz="1200" dirty="0"/>
          </a:p>
        </p:txBody>
      </p:sp>
      <p:sp>
        <p:nvSpPr>
          <p:cNvPr id="3" name="Text 1"/>
          <p:cNvSpPr/>
          <p:nvPr/>
        </p:nvSpPr>
        <p:spPr>
          <a:xfrm>
            <a:off x="548640" y="594360"/>
            <a:ext cx="10515600" cy="548640"/>
          </a:xfrm>
          <a:prstGeom prst="rect">
            <a:avLst/>
          </a:prstGeom>
          <a:noFill/>
          <a:ln/>
        </p:spPr>
        <p:txBody>
          <a:bodyPr wrap="square" rtlCol="0" anchor="ctr"/>
          <a:lstStyle/>
          <a:p>
            <a:pPr indent="0" marL="0">
              <a:buNone/>
            </a:pPr>
            <a:r>
              <a:rPr lang="en-US" sz="2200" b="1" dirty="0">
                <a:solidFill>
                  <a:srgbClr val="1F2430"/>
                </a:solidFill>
                <a:latin typeface="Cambria" pitchFamily="34" charset="0"/>
                <a:ea typeface="Cambria" pitchFamily="34" charset="-122"/>
                <a:cs typeface="Cambria" pitchFamily="34" charset="-120"/>
              </a:rPr>
              <a:t>Chất lượng dịch vụ ổn định qua các tháng</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760720" cy="1920240"/>
        </p:xfrm>
        <a:graphic>
          <a:graphicData uri="http://schemas.openxmlformats.org/drawingml/2006/table">
            <a:tbl>
              <a:tblPr/>
              <a:tblGrid>
                <a:gridCol w="2103120"/>
                <a:gridCol w="1463040"/>
                <a:gridCol w="1097280"/>
                <a:gridCol w="109728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KPI vận hành</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SD</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Avg Repair Time</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44,88 phút</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0,77</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1,71%</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Customer Rating</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4,58</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0,03</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r>
              <a:tr h="457200">
                <a:tc>
                  <a:txBody>
                    <a:bodyPr/>
                    <a:lstStyle/>
                    <a:p>
                      <a:pPr algn="l" indent="0" marL="0">
                        <a:buNone/>
                      </a:pPr>
                      <a:r>
                        <a:rPr lang="en-US" sz="1300" dirty="0">
                          <a:solidFill>
                            <a:srgbClr val="1F2430"/>
                          </a:solidFill>
                          <a:latin typeface="Calibri" pitchFamily="34" charset="0"/>
                          <a:ea typeface="Calibri" pitchFamily="34" charset="-122"/>
                          <a:cs typeface="Calibri" pitchFamily="34" charset="-120"/>
                        </a:rPr>
                        <a:t>Complaint Rate</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0,07%</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430"/>
                          </a:solidFill>
                          <a:latin typeface="Calibri" pitchFamily="34" charset="0"/>
                          <a:ea typeface="Calibri" pitchFamily="34" charset="-122"/>
                          <a:cs typeface="Calibri" pitchFamily="34" charset="-120"/>
                        </a:rPr>
                        <a:t>5,27%</a:t>
                      </a:r>
                      <a:endParaRPr lang="en-US" sz="13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611880"/>
            <a:ext cx="5760720" cy="2194560"/>
          </a:xfrm>
          <a:prstGeom prst="roundRect">
            <a:avLst>
              <a:gd name="adj" fmla="val 3333"/>
            </a:avLst>
          </a:prstGeom>
          <a:solidFill>
            <a:srgbClr val="F4F6FB"/>
          </a:solidFill>
          <a:ln/>
        </p:spPr>
      </p:sp>
      <p:sp>
        <p:nvSpPr>
          <p:cNvPr id="6" name="Text 3"/>
          <p:cNvSpPr/>
          <p:nvPr/>
        </p:nvSpPr>
        <p:spPr>
          <a:xfrm>
            <a:off x="822960" y="3794760"/>
            <a:ext cx="5212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Tháng 03/2026 — khi khối lượng giảm, chất lượng tăng</a:t>
            </a:r>
            <a:endParaRPr lang="en-US" sz="1300" dirty="0"/>
          </a:p>
        </p:txBody>
      </p:sp>
      <p:sp>
        <p:nvSpPr>
          <p:cNvPr id="7" name="Text 4"/>
          <p:cNvSpPr/>
          <p:nvPr/>
        </p:nvSpPr>
        <p:spPr>
          <a:xfrm>
            <a:off x="822960" y="4206240"/>
            <a:ext cx="5212080" cy="1463040"/>
          </a:xfrm>
          <a:prstGeom prst="rect">
            <a:avLst/>
          </a:prstGeom>
          <a:noFill/>
          <a:ln/>
        </p:spPr>
        <p:txBody>
          <a:bodyPr wrap="square" lIns="0" tIns="0" rIns="0" bIns="0" rtlCol="0" anchor="ctr"/>
          <a:lstStyle/>
          <a:p>
            <a:pPr indent="0" marL="0">
              <a:lnSpc>
                <a:spcPts val="1700"/>
              </a:lnSpc>
              <a:buNone/>
            </a:pPr>
            <a:r>
              <a:rPr lang="en-US" sz="1200" dirty="0">
                <a:solidFill>
                  <a:srgbClr val="1F2430"/>
                </a:solidFill>
                <a:latin typeface="Calibri" pitchFamily="34" charset="0"/>
                <a:ea typeface="Calibri" pitchFamily="34" charset="-122"/>
                <a:cs typeface="Calibri" pitchFamily="34" charset="-120"/>
              </a:rPr>
              <a:t>Revenue -9,60%, Jobs -8,92%  →  Repair Time -3,18%, Rating +1,80%, Complaint Rate -11,61%</a:t>
            </a:r>
            <a:endParaRPr lang="en-US" sz="1200" dirty="0"/>
          </a:p>
        </p:txBody>
      </p:sp>
      <p:sp>
        <p:nvSpPr>
          <p:cNvPr id="8" name="Shape 5"/>
          <p:cNvSpPr/>
          <p:nvPr/>
        </p:nvSpPr>
        <p:spPr>
          <a:xfrm>
            <a:off x="6675120" y="1417320"/>
            <a:ext cx="4937760" cy="4389120"/>
          </a:xfrm>
          <a:prstGeom prst="roundRect">
            <a:avLst>
              <a:gd name="adj" fmla="val 1667"/>
            </a:avLst>
          </a:prstGeom>
          <a:solidFill>
            <a:srgbClr val="1E2761"/>
          </a:solidFill>
          <a:ln/>
        </p:spPr>
      </p:sp>
      <p:sp>
        <p:nvSpPr>
          <p:cNvPr id="9" name="Text 6"/>
          <p:cNvSpPr/>
          <p:nvPr/>
        </p:nvSpPr>
        <p:spPr>
          <a:xfrm>
            <a:off x="6949440" y="1645920"/>
            <a:ext cx="4389120" cy="365760"/>
          </a:xfrm>
          <a:prstGeom prst="rect">
            <a:avLst/>
          </a:prstGeom>
          <a:noFill/>
          <a:ln/>
        </p:spPr>
        <p:txBody>
          <a:bodyPr wrap="square" lIns="0" tIns="0" rIns="0" bIns="0" rtlCol="0" anchor="ctr"/>
          <a:lstStyle/>
          <a:p>
            <a:pPr indent="0" marL="0">
              <a:buNone/>
            </a:pPr>
            <a:r>
              <a:rPr lang="en-US" sz="1400" b="1" dirty="0">
                <a:solidFill>
                  <a:srgbClr val="C9A44C"/>
                </a:solidFill>
                <a:latin typeface="Calibri" pitchFamily="34" charset="0"/>
                <a:ea typeface="Calibri" pitchFamily="34" charset="-122"/>
                <a:cs typeface="Calibri" pitchFamily="34" charset="-120"/>
              </a:rPr>
              <a:t>Business Insight</a:t>
            </a:r>
            <a:endParaRPr lang="en-US" sz="1400" dirty="0"/>
          </a:p>
        </p:txBody>
      </p:sp>
      <p:sp>
        <p:nvSpPr>
          <p:cNvPr id="10" name="Text 7"/>
          <p:cNvSpPr/>
          <p:nvPr/>
        </p:nvSpPr>
        <p:spPr>
          <a:xfrm>
            <a:off x="6949440" y="2103120"/>
            <a:ext cx="4389120" cy="356616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Customer Rating và Avg Repair Time có CV dưới 2%, phản ánh chất lượng dịch vụ và quy trình vận hành khá ổn định suốt kỳ phân tích.</a:t>
            </a:r>
            <a:endParaRPr lang="en-US" sz="1250" dirty="0"/>
          </a:p>
          <a:p>
            <a:pPr indent="0" marL="0">
              <a:lnSpc>
                <a:spcPts val="1800"/>
              </a:lnSpc>
              <a:buNone/>
            </a:pP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Complaint Rate có CV ~5,27% — biến động nhiều hơn, là chỉ số cần ưu tiên theo dõi trong các kỳ tiếp theo.</a:t>
            </a:r>
            <a:endParaRPr lang="en-US" sz="1250" dirty="0"/>
          </a:p>
          <a:p>
            <a:pPr indent="0" marL="0">
              <a:lnSpc>
                <a:spcPts val="1800"/>
              </a:lnSpc>
              <a:buNone/>
            </a:pP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Khi khối lượng công việc giảm (tháng 03), các KPI chất lượng đều cải thiện — cho thấy nguồn lực có thể được phân bổ hiệu quả hơn khi tải công việc thấp. Đây là giả thuyết cần thêm dữ liệu (số kỹ thuật viên, năng suất lao động) để xác nhận.</a:t>
            </a:r>
            <a:endParaRPr lang="en-US" sz="1250" dirty="0"/>
          </a:p>
        </p:txBody>
      </p:sp>
      <p:sp>
        <p:nvSpPr>
          <p:cNvPr id="11" name="Text 8"/>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12" name="Text 9"/>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KEY FINDING 05</a:t>
            </a:r>
            <a:endParaRPr lang="en-US" sz="1200" dirty="0"/>
          </a:p>
        </p:txBody>
      </p:sp>
      <p:sp>
        <p:nvSpPr>
          <p:cNvPr id="3" name="Text 1"/>
          <p:cNvSpPr/>
          <p:nvPr/>
        </p:nvSpPr>
        <p:spPr>
          <a:xfrm>
            <a:off x="548640" y="594360"/>
            <a:ext cx="10515600" cy="548640"/>
          </a:xfrm>
          <a:prstGeom prst="rect">
            <a:avLst/>
          </a:prstGeom>
          <a:noFill/>
          <a:ln/>
        </p:spPr>
        <p:txBody>
          <a:bodyPr wrap="square" rtlCol="0" anchor="ctr"/>
          <a:lstStyle/>
          <a:p>
            <a:pPr indent="0" marL="0">
              <a:buNone/>
            </a:pPr>
            <a:r>
              <a:rPr lang="en-US" sz="2200" b="1" dirty="0">
                <a:solidFill>
                  <a:srgbClr val="1F2430"/>
                </a:solidFill>
                <a:latin typeface="Cambria" pitchFamily="34" charset="0"/>
                <a:ea typeface="Cambria" pitchFamily="34" charset="-122"/>
                <a:cs typeface="Cambria" pitchFamily="34" charset="-120"/>
              </a:rPr>
              <a:t>Tháng 06/2026 — dấu hiệu suy giảm nhẹ về vận hành</a:t>
            </a:r>
            <a:endParaRPr lang="en-US" sz="2200" dirty="0"/>
          </a:p>
        </p:txBody>
      </p:sp>
      <p:sp>
        <p:nvSpPr>
          <p:cNvPr id="4" name="Shape 2"/>
          <p:cNvSpPr/>
          <p:nvPr/>
        </p:nvSpPr>
        <p:spPr>
          <a:xfrm>
            <a:off x="548640" y="1554480"/>
            <a:ext cx="2084832" cy="1737360"/>
          </a:xfrm>
          <a:prstGeom prst="roundRect">
            <a:avLst>
              <a:gd name="adj" fmla="val 4211"/>
            </a:avLst>
          </a:prstGeom>
          <a:solidFill>
            <a:srgbClr val="F4F6FB"/>
          </a:solidFill>
          <a:ln/>
        </p:spPr>
      </p:sp>
      <p:sp>
        <p:nvSpPr>
          <p:cNvPr id="5" name="Text 3"/>
          <p:cNvSpPr/>
          <p:nvPr/>
        </p:nvSpPr>
        <p:spPr>
          <a:xfrm>
            <a:off x="640080" y="1783080"/>
            <a:ext cx="1901952" cy="685800"/>
          </a:xfrm>
          <a:prstGeom prst="rect">
            <a:avLst/>
          </a:prstGeom>
          <a:noFill/>
          <a:ln/>
        </p:spPr>
        <p:txBody>
          <a:bodyPr wrap="square" lIns="0" tIns="0" rIns="0" bIns="0" rtlCol="0" anchor="ctr"/>
          <a:lstStyle/>
          <a:p>
            <a:pPr algn="ctr" indent="0" marL="0">
              <a:buNone/>
            </a:pPr>
            <a:r>
              <a:rPr lang="en-US" sz="2400" b="1" dirty="0">
                <a:solidFill>
                  <a:srgbClr val="C0392B"/>
                </a:solidFill>
                <a:latin typeface="Cambria" pitchFamily="34" charset="0"/>
                <a:ea typeface="Cambria" pitchFamily="34" charset="-122"/>
                <a:cs typeface="Cambria" pitchFamily="34" charset="-120"/>
              </a:rPr>
              <a:t>-17,74%</a:t>
            </a:r>
            <a:endParaRPr lang="en-US" sz="2400" dirty="0"/>
          </a:p>
        </p:txBody>
      </p:sp>
      <p:sp>
        <p:nvSpPr>
          <p:cNvPr id="6" name="Text 4"/>
          <p:cNvSpPr/>
          <p:nvPr/>
        </p:nvSpPr>
        <p:spPr>
          <a:xfrm>
            <a:off x="640080" y="2514600"/>
            <a:ext cx="1901952" cy="6400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Revenue</a:t>
            </a:r>
            <a:endParaRPr lang="en-US" sz="1200" dirty="0"/>
          </a:p>
        </p:txBody>
      </p:sp>
      <p:sp>
        <p:nvSpPr>
          <p:cNvPr id="7" name="Shape 5"/>
          <p:cNvSpPr/>
          <p:nvPr/>
        </p:nvSpPr>
        <p:spPr>
          <a:xfrm>
            <a:off x="2770632" y="1554480"/>
            <a:ext cx="2084832" cy="1737360"/>
          </a:xfrm>
          <a:prstGeom prst="roundRect">
            <a:avLst>
              <a:gd name="adj" fmla="val 4211"/>
            </a:avLst>
          </a:prstGeom>
          <a:solidFill>
            <a:srgbClr val="F4F6FB"/>
          </a:solidFill>
          <a:ln/>
        </p:spPr>
      </p:sp>
      <p:sp>
        <p:nvSpPr>
          <p:cNvPr id="8" name="Text 6"/>
          <p:cNvSpPr/>
          <p:nvPr/>
        </p:nvSpPr>
        <p:spPr>
          <a:xfrm>
            <a:off x="2862072" y="1783080"/>
            <a:ext cx="1901952" cy="685800"/>
          </a:xfrm>
          <a:prstGeom prst="rect">
            <a:avLst/>
          </a:prstGeom>
          <a:noFill/>
          <a:ln/>
        </p:spPr>
        <p:txBody>
          <a:bodyPr wrap="square" lIns="0" tIns="0" rIns="0" bIns="0" rtlCol="0" anchor="ctr"/>
          <a:lstStyle/>
          <a:p>
            <a:pPr algn="ctr" indent="0" marL="0">
              <a:buNone/>
            </a:pPr>
            <a:r>
              <a:rPr lang="en-US" sz="2400" b="1" dirty="0">
                <a:solidFill>
                  <a:srgbClr val="C0392B"/>
                </a:solidFill>
                <a:latin typeface="Cambria" pitchFamily="34" charset="0"/>
                <a:ea typeface="Cambria" pitchFamily="34" charset="-122"/>
                <a:cs typeface="Cambria" pitchFamily="34" charset="-120"/>
              </a:rPr>
              <a:t>-17,89%</a:t>
            </a:r>
            <a:endParaRPr lang="en-US" sz="2400" dirty="0"/>
          </a:p>
        </p:txBody>
      </p:sp>
      <p:sp>
        <p:nvSpPr>
          <p:cNvPr id="9" name="Text 7"/>
          <p:cNvSpPr/>
          <p:nvPr/>
        </p:nvSpPr>
        <p:spPr>
          <a:xfrm>
            <a:off x="2862072" y="2514600"/>
            <a:ext cx="1901952" cy="6400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Jobs</a:t>
            </a:r>
            <a:endParaRPr lang="en-US" sz="1200" dirty="0"/>
          </a:p>
        </p:txBody>
      </p:sp>
      <p:sp>
        <p:nvSpPr>
          <p:cNvPr id="10" name="Shape 8"/>
          <p:cNvSpPr/>
          <p:nvPr/>
        </p:nvSpPr>
        <p:spPr>
          <a:xfrm>
            <a:off x="4992624" y="1554480"/>
            <a:ext cx="2084832" cy="1737360"/>
          </a:xfrm>
          <a:prstGeom prst="roundRect">
            <a:avLst>
              <a:gd name="adj" fmla="val 4211"/>
            </a:avLst>
          </a:prstGeom>
          <a:solidFill>
            <a:srgbClr val="F4F6FB"/>
          </a:solidFill>
          <a:ln/>
        </p:spPr>
      </p:sp>
      <p:sp>
        <p:nvSpPr>
          <p:cNvPr id="11" name="Text 9"/>
          <p:cNvSpPr/>
          <p:nvPr/>
        </p:nvSpPr>
        <p:spPr>
          <a:xfrm>
            <a:off x="5084064" y="1783080"/>
            <a:ext cx="1901952" cy="685800"/>
          </a:xfrm>
          <a:prstGeom prst="rect">
            <a:avLst/>
          </a:prstGeom>
          <a:noFill/>
          <a:ln/>
        </p:spPr>
        <p:txBody>
          <a:bodyPr wrap="square" lIns="0" tIns="0" rIns="0" bIns="0" rtlCol="0" anchor="ctr"/>
          <a:lstStyle/>
          <a:p>
            <a:pPr algn="ctr" indent="0" marL="0">
              <a:buNone/>
            </a:pPr>
            <a:r>
              <a:rPr lang="en-US" sz="2400" b="1" dirty="0">
                <a:solidFill>
                  <a:srgbClr val="C0392B"/>
                </a:solidFill>
                <a:latin typeface="Cambria" pitchFamily="34" charset="0"/>
                <a:ea typeface="Cambria" pitchFamily="34" charset="-122"/>
                <a:cs typeface="Cambria" pitchFamily="34" charset="-120"/>
              </a:rPr>
              <a:t>+1,24%</a:t>
            </a:r>
            <a:endParaRPr lang="en-US" sz="2400" dirty="0"/>
          </a:p>
        </p:txBody>
      </p:sp>
      <p:sp>
        <p:nvSpPr>
          <p:cNvPr id="12" name="Text 10"/>
          <p:cNvSpPr/>
          <p:nvPr/>
        </p:nvSpPr>
        <p:spPr>
          <a:xfrm>
            <a:off x="5084064" y="2514600"/>
            <a:ext cx="1901952" cy="6400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Repair Time</a:t>
            </a:r>
            <a:endParaRPr lang="en-US" sz="1200" dirty="0"/>
          </a:p>
        </p:txBody>
      </p:sp>
      <p:sp>
        <p:nvSpPr>
          <p:cNvPr id="13" name="Shape 11"/>
          <p:cNvSpPr/>
          <p:nvPr/>
        </p:nvSpPr>
        <p:spPr>
          <a:xfrm>
            <a:off x="7214616" y="1554480"/>
            <a:ext cx="2084832" cy="1737360"/>
          </a:xfrm>
          <a:prstGeom prst="roundRect">
            <a:avLst>
              <a:gd name="adj" fmla="val 4211"/>
            </a:avLst>
          </a:prstGeom>
          <a:solidFill>
            <a:srgbClr val="F4F6FB"/>
          </a:solidFill>
          <a:ln/>
        </p:spPr>
      </p:sp>
      <p:sp>
        <p:nvSpPr>
          <p:cNvPr id="14" name="Text 12"/>
          <p:cNvSpPr/>
          <p:nvPr/>
        </p:nvSpPr>
        <p:spPr>
          <a:xfrm>
            <a:off x="7306056" y="1783080"/>
            <a:ext cx="1901952" cy="685800"/>
          </a:xfrm>
          <a:prstGeom prst="rect">
            <a:avLst/>
          </a:prstGeom>
          <a:noFill/>
          <a:ln/>
        </p:spPr>
        <p:txBody>
          <a:bodyPr wrap="square" lIns="0" tIns="0" rIns="0" bIns="0" rtlCol="0" anchor="ctr"/>
          <a:lstStyle/>
          <a:p>
            <a:pPr algn="ctr" indent="0" marL="0">
              <a:buNone/>
            </a:pPr>
            <a:r>
              <a:rPr lang="en-US" sz="2400" b="1" dirty="0">
                <a:solidFill>
                  <a:srgbClr val="C0392B"/>
                </a:solidFill>
                <a:latin typeface="Cambria" pitchFamily="34" charset="0"/>
                <a:ea typeface="Cambria" pitchFamily="34" charset="-122"/>
                <a:cs typeface="Cambria" pitchFamily="34" charset="-120"/>
              </a:rPr>
              <a:t>-0,46%</a:t>
            </a:r>
            <a:endParaRPr lang="en-US" sz="2400" dirty="0"/>
          </a:p>
        </p:txBody>
      </p:sp>
      <p:sp>
        <p:nvSpPr>
          <p:cNvPr id="15" name="Text 13"/>
          <p:cNvSpPr/>
          <p:nvPr/>
        </p:nvSpPr>
        <p:spPr>
          <a:xfrm>
            <a:off x="7306056" y="2514600"/>
            <a:ext cx="1901952" cy="6400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Customer Rating</a:t>
            </a:r>
            <a:endParaRPr lang="en-US" sz="1200" dirty="0"/>
          </a:p>
        </p:txBody>
      </p:sp>
      <p:sp>
        <p:nvSpPr>
          <p:cNvPr id="16" name="Shape 14"/>
          <p:cNvSpPr/>
          <p:nvPr/>
        </p:nvSpPr>
        <p:spPr>
          <a:xfrm>
            <a:off x="9436608" y="1554480"/>
            <a:ext cx="2084832" cy="1737360"/>
          </a:xfrm>
          <a:prstGeom prst="roundRect">
            <a:avLst>
              <a:gd name="adj" fmla="val 4211"/>
            </a:avLst>
          </a:prstGeom>
          <a:solidFill>
            <a:srgbClr val="F4F6FB"/>
          </a:solidFill>
          <a:ln/>
        </p:spPr>
      </p:sp>
      <p:sp>
        <p:nvSpPr>
          <p:cNvPr id="17" name="Text 15"/>
          <p:cNvSpPr/>
          <p:nvPr/>
        </p:nvSpPr>
        <p:spPr>
          <a:xfrm>
            <a:off x="9528048" y="1783080"/>
            <a:ext cx="1901952" cy="685800"/>
          </a:xfrm>
          <a:prstGeom prst="rect">
            <a:avLst/>
          </a:prstGeom>
          <a:noFill/>
          <a:ln/>
        </p:spPr>
        <p:txBody>
          <a:bodyPr wrap="square" lIns="0" tIns="0" rIns="0" bIns="0" rtlCol="0" anchor="ctr"/>
          <a:lstStyle/>
          <a:p>
            <a:pPr algn="ctr" indent="0" marL="0">
              <a:buNone/>
            </a:pPr>
            <a:r>
              <a:rPr lang="en-US" sz="2400" b="1" dirty="0">
                <a:solidFill>
                  <a:srgbClr val="C0392B"/>
                </a:solidFill>
                <a:latin typeface="Cambria" pitchFamily="34" charset="0"/>
                <a:ea typeface="Cambria" pitchFamily="34" charset="-122"/>
                <a:cs typeface="Cambria" pitchFamily="34" charset="-120"/>
              </a:rPr>
              <a:t>+7,42%</a:t>
            </a:r>
            <a:endParaRPr lang="en-US" sz="2400" dirty="0"/>
          </a:p>
        </p:txBody>
      </p:sp>
      <p:sp>
        <p:nvSpPr>
          <p:cNvPr id="18" name="Text 16"/>
          <p:cNvSpPr/>
          <p:nvPr/>
        </p:nvSpPr>
        <p:spPr>
          <a:xfrm>
            <a:off x="9528048" y="2514600"/>
            <a:ext cx="1901952" cy="64008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Complaint Rate</a:t>
            </a:r>
            <a:endParaRPr lang="en-US" sz="1200" dirty="0"/>
          </a:p>
        </p:txBody>
      </p:sp>
      <p:sp>
        <p:nvSpPr>
          <p:cNvPr id="19" name="Shape 17"/>
          <p:cNvSpPr/>
          <p:nvPr/>
        </p:nvSpPr>
        <p:spPr>
          <a:xfrm>
            <a:off x="548640" y="3611880"/>
            <a:ext cx="11064240" cy="2011680"/>
          </a:xfrm>
          <a:prstGeom prst="roundRect">
            <a:avLst>
              <a:gd name="adj" fmla="val 3636"/>
            </a:avLst>
          </a:prstGeom>
          <a:solidFill>
            <a:srgbClr val="F4F6FB"/>
          </a:solidFill>
          <a:ln/>
        </p:spPr>
      </p:sp>
      <p:sp>
        <p:nvSpPr>
          <p:cNvPr id="20" name="Text 18"/>
          <p:cNvSpPr/>
          <p:nvPr/>
        </p:nvSpPr>
        <p:spPr>
          <a:xfrm>
            <a:off x="822960" y="3794760"/>
            <a:ext cx="105156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Business Insight</a:t>
            </a:r>
            <a:endParaRPr lang="en-US" sz="1400" dirty="0"/>
          </a:p>
        </p:txBody>
      </p:sp>
      <p:sp>
        <p:nvSpPr>
          <p:cNvPr id="21" name="Text 19"/>
          <p:cNvSpPr/>
          <p:nvPr/>
        </p:nvSpPr>
        <p:spPr>
          <a:xfrm>
            <a:off x="822960" y="4206240"/>
            <a:ext cx="10515600" cy="1280160"/>
          </a:xfrm>
          <a:prstGeom prst="rect">
            <a:avLst/>
          </a:prstGeom>
          <a:noFill/>
          <a:ln/>
        </p:spPr>
        <p:txBody>
          <a:bodyPr wrap="square" lIns="0" tIns="0" rIns="0" bIns="0" rtlCol="0" anchor="ctr"/>
          <a:lstStyle/>
          <a:p>
            <a:pPr indent="0" marL="0">
              <a:lnSpc>
                <a:spcPts val="1800"/>
              </a:lnSpc>
              <a:buNone/>
            </a:pPr>
            <a:r>
              <a:rPr lang="en-US" sz="1300" dirty="0">
                <a:solidFill>
                  <a:srgbClr val="1F2430"/>
                </a:solidFill>
                <a:latin typeface="Calibri" pitchFamily="34" charset="0"/>
                <a:ea typeface="Calibri" pitchFamily="34" charset="-122"/>
                <a:cs typeface="Calibri" pitchFamily="34" charset="-120"/>
              </a:rPr>
              <a:t>Sau giai đoạn tăng trưởng mạnh của tháng 05, các chỉ số vận hành tháng 06 có dấu hiệu giảm nhẹ. Mức biến động chưa lớn, nhưng doanh nghiệp nên tiếp tục theo dõi để đánh giá đây là biến động ngắn hạn hay xu hướng kéo dài.</a:t>
            </a:r>
            <a:endParaRPr lang="en-US" sz="1300" dirty="0"/>
          </a:p>
        </p:txBody>
      </p:sp>
      <p:sp>
        <p:nvSpPr>
          <p:cNvPr id="22"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23" name="Text 21"/>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640080"/>
            <a:ext cx="7315200" cy="365760"/>
          </a:xfrm>
          <a:prstGeom prst="rect">
            <a:avLst/>
          </a:prstGeom>
          <a:noFill/>
          <a:ln/>
        </p:spPr>
        <p:txBody>
          <a:bodyPr wrap="square" rtlCol="0" anchor="ctr"/>
          <a:lstStyle/>
          <a:p>
            <a:pPr indent="0" marL="0">
              <a:buNone/>
            </a:pPr>
            <a:r>
              <a:rPr lang="en-US" sz="1300" b="1" spc="200" kern="0" dirty="0">
                <a:solidFill>
                  <a:srgbClr val="C9A44C"/>
                </a:solidFill>
                <a:latin typeface="Calibri" pitchFamily="34" charset="0"/>
                <a:ea typeface="Calibri" pitchFamily="34" charset="-122"/>
                <a:cs typeface="Calibri" pitchFamily="34" charset="-120"/>
              </a:rPr>
              <a:t>KẾT LUẬN PHẦN 01</a:t>
            </a:r>
            <a:endParaRPr lang="en-US" sz="1300" dirty="0"/>
          </a:p>
        </p:txBody>
      </p:sp>
      <p:sp>
        <p:nvSpPr>
          <p:cNvPr id="3" name="Text 1"/>
          <p:cNvSpPr/>
          <p:nvPr/>
        </p:nvSpPr>
        <p:spPr>
          <a:xfrm>
            <a:off x="822960" y="1005840"/>
            <a:ext cx="960120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Jobs là động lực chính của doanh thu</a:t>
            </a:r>
            <a:endParaRPr lang="en-US" sz="2600" dirty="0"/>
          </a:p>
        </p:txBody>
      </p:sp>
      <p:sp>
        <p:nvSpPr>
          <p:cNvPr id="4" name="Shape 2"/>
          <p:cNvSpPr/>
          <p:nvPr/>
        </p:nvSpPr>
        <p:spPr>
          <a:xfrm>
            <a:off x="822960" y="2011680"/>
            <a:ext cx="256032" cy="256032"/>
          </a:xfrm>
          <a:prstGeom prst="ellipse">
            <a:avLst/>
          </a:prstGeom>
          <a:solidFill>
            <a:srgbClr val="C9A44C"/>
          </a:solidFill>
          <a:ln/>
        </p:spPr>
      </p:sp>
      <p:sp>
        <p:nvSpPr>
          <p:cNvPr id="5" name="Text 3"/>
          <p:cNvSpPr/>
          <p:nvPr/>
        </p:nvSpPr>
        <p:spPr>
          <a:xfrm>
            <a:off x="822960" y="2011680"/>
            <a:ext cx="256032"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280160" y="1965960"/>
            <a:ext cx="100584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Doanh thu giai đoạn 01–06/2026 được thúc đẩy chủ yếu bởi khối lượng Jobs, không phải giá trị trung bình mỗi đơn hàng.</a:t>
            </a:r>
            <a:endParaRPr lang="en-US" sz="1350" dirty="0"/>
          </a:p>
        </p:txBody>
      </p:sp>
      <p:sp>
        <p:nvSpPr>
          <p:cNvPr id="7" name="Shape 5"/>
          <p:cNvSpPr/>
          <p:nvPr/>
        </p:nvSpPr>
        <p:spPr>
          <a:xfrm>
            <a:off x="822960" y="2852928"/>
            <a:ext cx="256032" cy="256032"/>
          </a:xfrm>
          <a:prstGeom prst="ellipse">
            <a:avLst/>
          </a:prstGeom>
          <a:solidFill>
            <a:srgbClr val="C9A44C"/>
          </a:solidFill>
          <a:ln/>
        </p:spPr>
      </p:sp>
      <p:sp>
        <p:nvSpPr>
          <p:cNvPr id="8" name="Text 6"/>
          <p:cNvSpPr/>
          <p:nvPr/>
        </p:nvSpPr>
        <p:spPr>
          <a:xfrm>
            <a:off x="822960" y="2852928"/>
            <a:ext cx="256032"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280160" y="2807208"/>
            <a:ext cx="100584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Revenue per Job duy trì rất ổn định (CV 0,79%), trong khi Revenue và Jobs cùng biến động ~17% — phản ánh mối quan hệ chặt chẽ giữa hai chỉ số.</a:t>
            </a:r>
            <a:endParaRPr lang="en-US" sz="1350" dirty="0"/>
          </a:p>
        </p:txBody>
      </p:sp>
      <p:sp>
        <p:nvSpPr>
          <p:cNvPr id="10" name="Shape 8"/>
          <p:cNvSpPr/>
          <p:nvPr/>
        </p:nvSpPr>
        <p:spPr>
          <a:xfrm>
            <a:off x="822960" y="3694176"/>
            <a:ext cx="256032" cy="256032"/>
          </a:xfrm>
          <a:prstGeom prst="ellipse">
            <a:avLst/>
          </a:prstGeom>
          <a:solidFill>
            <a:srgbClr val="C9A44C"/>
          </a:solidFill>
          <a:ln/>
        </p:spPr>
      </p:sp>
      <p:sp>
        <p:nvSpPr>
          <p:cNvPr id="11" name="Text 9"/>
          <p:cNvSpPr/>
          <p:nvPr/>
        </p:nvSpPr>
        <p:spPr>
          <a:xfrm>
            <a:off x="822960" y="3694176"/>
            <a:ext cx="256032"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280160" y="3648456"/>
            <a:ext cx="100584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Các KPI vận hành (Repair Time, Customer Rating) duy trì mức biến động thấp — chất lượng dịch vụ được giữ vững xuyên suốt kỳ phân tích.</a:t>
            </a:r>
            <a:endParaRPr lang="en-US" sz="1350" dirty="0"/>
          </a:p>
        </p:txBody>
      </p:sp>
      <p:sp>
        <p:nvSpPr>
          <p:cNvPr id="13" name="Shape 11"/>
          <p:cNvSpPr/>
          <p:nvPr/>
        </p:nvSpPr>
        <p:spPr>
          <a:xfrm>
            <a:off x="822960" y="4535424"/>
            <a:ext cx="256032" cy="256032"/>
          </a:xfrm>
          <a:prstGeom prst="ellipse">
            <a:avLst/>
          </a:prstGeom>
          <a:solidFill>
            <a:srgbClr val="C9A44C"/>
          </a:solidFill>
          <a:ln/>
        </p:spPr>
      </p:sp>
      <p:sp>
        <p:nvSpPr>
          <p:cNvPr id="14" name="Text 12"/>
          <p:cNvSpPr/>
          <p:nvPr/>
        </p:nvSpPr>
        <p:spPr>
          <a:xfrm>
            <a:off x="822960" y="4535424"/>
            <a:ext cx="256032"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280160" y="4489704"/>
            <a:ext cx="100584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Tháng 05/2026 là giai đoạn hiệu quả toàn diện nhất: tăng trưởng mạnh và cải thiện chất lượng dịch vụ đồng thời.</a:t>
            </a:r>
            <a:endParaRPr lang="en-US" sz="1350" dirty="0"/>
          </a:p>
        </p:txBody>
      </p:sp>
      <p:sp>
        <p:nvSpPr>
          <p:cNvPr id="16" name="Shape 14"/>
          <p:cNvSpPr/>
          <p:nvPr/>
        </p:nvSpPr>
        <p:spPr>
          <a:xfrm>
            <a:off x="822960" y="5376672"/>
            <a:ext cx="256032" cy="256032"/>
          </a:xfrm>
          <a:prstGeom prst="ellipse">
            <a:avLst/>
          </a:prstGeom>
          <a:solidFill>
            <a:srgbClr val="C9A44C"/>
          </a:solidFill>
          <a:ln/>
        </p:spPr>
      </p:sp>
      <p:sp>
        <p:nvSpPr>
          <p:cNvPr id="17" name="Text 15"/>
          <p:cNvSpPr/>
          <p:nvPr/>
        </p:nvSpPr>
        <p:spPr>
          <a:xfrm>
            <a:off x="822960" y="5376672"/>
            <a:ext cx="256032"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280160" y="5330952"/>
            <a:ext cx="10058400" cy="777240"/>
          </a:xfrm>
          <a:prstGeom prst="rect">
            <a:avLst/>
          </a:prstGeom>
          <a:noFill/>
          <a:ln/>
        </p:spPr>
        <p:txBody>
          <a:bodyPr wrap="square"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Tháng 06/2026 xuất hiện dấu hiệu giảm nhẹ về hiệu quả vận hành, cần tiếp tục theo dõi trong các kỳ tới.</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371600" y="4754880"/>
            <a:ext cx="4114800" cy="4114800"/>
          </a:xfrm>
          <a:prstGeom prst="ellipse">
            <a:avLst/>
          </a:prstGeom>
          <a:solidFill>
            <a:srgbClr val="263173"/>
          </a:solidFill>
          <a:ln/>
        </p:spPr>
      </p:sp>
      <p:sp>
        <p:nvSpPr>
          <p:cNvPr id="3" name="Text 1"/>
          <p:cNvSpPr/>
          <p:nvPr/>
        </p:nvSpPr>
        <p:spPr>
          <a:xfrm>
            <a:off x="822960" y="2103120"/>
            <a:ext cx="2743200" cy="1097280"/>
          </a:xfrm>
          <a:prstGeom prst="rect">
            <a:avLst/>
          </a:prstGeom>
          <a:noFill/>
          <a:ln/>
        </p:spPr>
        <p:txBody>
          <a:bodyPr wrap="square" rtlCol="0" anchor="ctr"/>
          <a:lstStyle/>
          <a:p>
            <a:pPr indent="0" marL="0">
              <a:buNone/>
            </a:pPr>
            <a:r>
              <a:rPr lang="en-US" sz="6000" b="1" dirty="0">
                <a:solidFill>
                  <a:srgbClr val="C9A44C"/>
                </a:solidFill>
                <a:latin typeface="Cambria" pitchFamily="34" charset="0"/>
                <a:ea typeface="Cambria" pitchFamily="34" charset="-122"/>
                <a:cs typeface="Cambria" pitchFamily="34" charset="-120"/>
              </a:rPr>
              <a:t>PHẦN 02</a:t>
            </a:r>
            <a:endParaRPr lang="en-US" sz="6000" dirty="0"/>
          </a:p>
        </p:txBody>
      </p:sp>
      <p:sp>
        <p:nvSpPr>
          <p:cNvPr id="4" name="Text 2"/>
          <p:cNvSpPr/>
          <p:nvPr/>
        </p:nvSpPr>
        <p:spPr>
          <a:xfrm>
            <a:off x="822960" y="3200400"/>
            <a:ext cx="9601200" cy="10058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Phân tích hiệu suất theo khu vực</a:t>
            </a:r>
            <a:endParaRPr lang="en-US" sz="3200" dirty="0"/>
          </a:p>
        </p:txBody>
      </p:sp>
      <p:sp>
        <p:nvSpPr>
          <p:cNvPr id="5" name="Text 3"/>
          <p:cNvSpPr/>
          <p:nvPr/>
        </p:nvSpPr>
        <p:spPr>
          <a:xfrm>
            <a:off x="822960" y="4069080"/>
            <a:ext cx="9144000" cy="5486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Đánh giá sự khác biệt về doanh thu, năng suất và chất lượng dịch vụ giữa Central, North và South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REGIONAL ANALYSIS</a:t>
            </a:r>
            <a:endParaRPr lang="en-US" sz="1200" dirty="0"/>
          </a:p>
        </p:txBody>
      </p:sp>
      <p:sp>
        <p:nvSpPr>
          <p:cNvPr id="3" name="Text 1"/>
          <p:cNvSpPr/>
          <p:nvPr/>
        </p:nvSpPr>
        <p:spPr>
          <a:xfrm>
            <a:off x="548640" y="594360"/>
            <a:ext cx="10972800" cy="548640"/>
          </a:xfrm>
          <a:prstGeom prst="rect">
            <a:avLst/>
          </a:prstGeom>
          <a:noFill/>
          <a:ln/>
        </p:spPr>
        <p:txBody>
          <a:bodyPr wrap="square" rtlCol="0" anchor="ctr"/>
          <a:lstStyle/>
          <a:p>
            <a:pPr indent="0" marL="0">
              <a:buNone/>
            </a:pPr>
            <a:r>
              <a:rPr lang="en-US" sz="2100" b="1" dirty="0">
                <a:solidFill>
                  <a:srgbClr val="1F2430"/>
                </a:solidFill>
                <a:latin typeface="Cambria" pitchFamily="34" charset="0"/>
                <a:ea typeface="Cambria" pitchFamily="34" charset="-122"/>
                <a:cs typeface="Cambria" pitchFamily="34" charset="-120"/>
              </a:rPr>
              <a:t>Central dẫn đầu về quy mô, North &amp; South đồng đều hơn</a:t>
            </a:r>
            <a:endParaRPr lang="en-US" sz="2100" dirty="0"/>
          </a:p>
        </p:txBody>
      </p:sp>
      <p:graphicFrame>
        <p:nvGraphicFramePr>
          <p:cNvPr id="4" name="Chart 0" descr=""/>
          <p:cNvGraphicFramePr/>
          <p:nvPr/>
        </p:nvGraphicFramePr>
        <p:xfrm>
          <a:off x="548640" y="1371600"/>
          <a:ext cx="356616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297680" y="1371600"/>
          <a:ext cx="3566160" cy="246888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8046720" y="1371600"/>
            <a:ext cx="3566160" cy="2468880"/>
          </a:xfrm>
          <a:prstGeom prst="roundRect">
            <a:avLst>
              <a:gd name="adj" fmla="val 2963"/>
            </a:avLst>
          </a:prstGeom>
          <a:solidFill>
            <a:srgbClr val="F4F6FB"/>
          </a:solidFill>
          <a:ln/>
        </p:spPr>
      </p:sp>
      <p:sp>
        <p:nvSpPr>
          <p:cNvPr id="7" name="Text 3"/>
          <p:cNvSpPr/>
          <p:nvPr/>
        </p:nvSpPr>
        <p:spPr>
          <a:xfrm>
            <a:off x="8275320" y="1508760"/>
            <a:ext cx="310896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Central vs South</a:t>
            </a:r>
            <a:endParaRPr lang="en-US" sz="1200" dirty="0"/>
          </a:p>
        </p:txBody>
      </p:sp>
      <p:sp>
        <p:nvSpPr>
          <p:cNvPr id="8" name="Text 4"/>
          <p:cNvSpPr/>
          <p:nvPr/>
        </p:nvSpPr>
        <p:spPr>
          <a:xfrm>
            <a:off x="8275320" y="1874520"/>
            <a:ext cx="3108960" cy="1737360"/>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Central đạt doanh thu cao nhất (29.500), cao hơn North ~1,13 lần và South ~1,12 lần. Revenue North &amp; South chỉ chênh lệch ~250 triệu — khá đồng đều.</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64240" cy="1691640"/>
        </p:xfrm>
        <a:graphic>
          <a:graphicData uri="http://schemas.openxmlformats.org/drawingml/2006/table">
            <a:tbl>
              <a:tblPr/>
              <a:tblGrid>
                <a:gridCol w="1737360"/>
                <a:gridCol w="1463040"/>
                <a:gridCol w="1554480"/>
                <a:gridCol w="1371600"/>
                <a:gridCol w="1463040"/>
                <a:gridCol w="1737360"/>
                <a:gridCol w="1645920"/>
              </a:tblGrid>
              <a:tr h="40233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Region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Jobs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Rating</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Rev/Job</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Time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Complaint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402336">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Central</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19.513</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29.500</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4,56</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1,51</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45,44</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1,40%</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North</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17.372</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26.132</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4,60</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44,68</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1,27%</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B"/>
                    </a:solidFill>
                  </a:tcPr>
                </a:tc>
              </a:tr>
              <a:tr h="402336">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South</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17.378</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25.882</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4,60</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1,49</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44,38</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10" name="Text 5"/>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11" name="Text 6"/>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REGIONAL ANALYSIS</a:t>
            </a:r>
            <a:endParaRPr lang="en-US" sz="12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2100" b="1" dirty="0">
                <a:solidFill>
                  <a:srgbClr val="1F2430"/>
                </a:solidFill>
                <a:latin typeface="Cambria" pitchFamily="34" charset="0"/>
                <a:ea typeface="Cambria" pitchFamily="34" charset="-122"/>
                <a:cs typeface="Cambria" pitchFamily="34" charset="-120"/>
              </a:rPr>
              <a:t>Điểm mạnh &amp; điểm cần cải thiện theo khu vực</a:t>
            </a:r>
            <a:endParaRPr lang="en-US" sz="2100" dirty="0"/>
          </a:p>
        </p:txBody>
      </p:sp>
      <p:sp>
        <p:nvSpPr>
          <p:cNvPr id="4" name="Shape 2"/>
          <p:cNvSpPr/>
          <p:nvPr/>
        </p:nvSpPr>
        <p:spPr>
          <a:xfrm>
            <a:off x="548640" y="1234440"/>
            <a:ext cx="3566160" cy="5029200"/>
          </a:xfrm>
          <a:prstGeom prst="roundRect">
            <a:avLst>
              <a:gd name="adj" fmla="val 2051"/>
            </a:avLst>
          </a:prstGeom>
          <a:solidFill>
            <a:srgbClr val="F4F6FB"/>
          </a:solidFill>
          <a:ln/>
        </p:spPr>
      </p:sp>
      <p:sp>
        <p:nvSpPr>
          <p:cNvPr id="5" name="Shape 3"/>
          <p:cNvSpPr/>
          <p:nvPr/>
        </p:nvSpPr>
        <p:spPr>
          <a:xfrm>
            <a:off x="548640" y="1234440"/>
            <a:ext cx="3566160" cy="777240"/>
          </a:xfrm>
          <a:prstGeom prst="rect">
            <a:avLst/>
          </a:prstGeom>
          <a:solidFill>
            <a:srgbClr val="1E2761"/>
          </a:solidFill>
          <a:ln/>
        </p:spPr>
      </p:sp>
      <p:sp>
        <p:nvSpPr>
          <p:cNvPr id="6" name="Text 4"/>
          <p:cNvSpPr/>
          <p:nvPr/>
        </p:nvSpPr>
        <p:spPr>
          <a:xfrm>
            <a:off x="777240" y="1307592"/>
            <a:ext cx="31089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CENTRAL</a:t>
            </a:r>
            <a:endParaRPr lang="en-US" sz="1700" dirty="0"/>
          </a:p>
        </p:txBody>
      </p:sp>
      <p:sp>
        <p:nvSpPr>
          <p:cNvPr id="7" name="Text 5"/>
          <p:cNvSpPr/>
          <p:nvPr/>
        </p:nvSpPr>
        <p:spPr>
          <a:xfrm>
            <a:off x="777240" y="1655064"/>
            <a:ext cx="310896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Năng suất cao nhất</a:t>
            </a:r>
            <a:endParaRPr lang="en-US" sz="1100" dirty="0"/>
          </a:p>
        </p:txBody>
      </p:sp>
      <p:sp>
        <p:nvSpPr>
          <p:cNvPr id="8" name="Text 6"/>
          <p:cNvSpPr/>
          <p:nvPr/>
        </p:nvSpPr>
        <p:spPr>
          <a:xfrm>
            <a:off x="777240" y="2148840"/>
            <a:ext cx="3108960" cy="274320"/>
          </a:xfrm>
          <a:prstGeom prst="rect">
            <a:avLst/>
          </a:prstGeom>
          <a:noFill/>
          <a:ln/>
        </p:spPr>
        <p:txBody>
          <a:bodyPr wrap="square" lIns="0" tIns="0" rIns="0" bIns="0" rtlCol="0" anchor="ctr"/>
          <a:lstStyle/>
          <a:p>
            <a:pPr indent="0" marL="0">
              <a:buNone/>
            </a:pPr>
            <a:r>
              <a:rPr lang="en-US" sz="1200" b="1" dirty="0">
                <a:solidFill>
                  <a:srgbClr val="1E8F5F"/>
                </a:solidFill>
                <a:latin typeface="Calibri" pitchFamily="34" charset="0"/>
                <a:ea typeface="Calibri" pitchFamily="34" charset="-122"/>
                <a:cs typeface="Calibri" pitchFamily="34" charset="-120"/>
              </a:rPr>
              <a:t>Điểm mạnh</a:t>
            </a:r>
            <a:endParaRPr lang="en-US" sz="1200" dirty="0"/>
          </a:p>
        </p:txBody>
      </p:sp>
      <p:sp>
        <p:nvSpPr>
          <p:cNvPr id="9" name="Text 7"/>
          <p:cNvSpPr/>
          <p:nvPr/>
        </p:nvSpPr>
        <p:spPr>
          <a:xfrm>
            <a:off x="777240" y="2468880"/>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19.513 jobs, 29.500 doanh thu — dẫn đầu</a:t>
            </a:r>
            <a:endParaRPr lang="en-US" sz="1050" dirty="0"/>
          </a:p>
        </p:txBody>
      </p:sp>
      <p:sp>
        <p:nvSpPr>
          <p:cNvPr id="10" name="Text 8"/>
          <p:cNvSpPr/>
          <p:nvPr/>
        </p:nvSpPr>
        <p:spPr>
          <a:xfrm>
            <a:off x="777240" y="2999232"/>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Revenue/Job cao nhất: 1,51</a:t>
            </a:r>
            <a:endParaRPr lang="en-US" sz="1050" dirty="0"/>
          </a:p>
        </p:txBody>
      </p:sp>
      <p:sp>
        <p:nvSpPr>
          <p:cNvPr id="11" name="Text 9"/>
          <p:cNvSpPr/>
          <p:nvPr/>
        </p:nvSpPr>
        <p:spPr>
          <a:xfrm>
            <a:off x="777240" y="3666744"/>
            <a:ext cx="310896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Cần cải thiện</a:t>
            </a:r>
            <a:endParaRPr lang="en-US" sz="1200" dirty="0"/>
          </a:p>
        </p:txBody>
      </p:sp>
      <p:sp>
        <p:nvSpPr>
          <p:cNvPr id="12" name="Text 10"/>
          <p:cNvSpPr/>
          <p:nvPr/>
        </p:nvSpPr>
        <p:spPr>
          <a:xfrm>
            <a:off x="777240" y="398678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Customer Rating thấp nhất: 4,56</a:t>
            </a:r>
            <a:endParaRPr lang="en-US" sz="1050" dirty="0"/>
          </a:p>
        </p:txBody>
      </p:sp>
      <p:sp>
        <p:nvSpPr>
          <p:cNvPr id="13" name="Text 11"/>
          <p:cNvSpPr/>
          <p:nvPr/>
        </p:nvSpPr>
        <p:spPr>
          <a:xfrm>
            <a:off x="777240" y="4517136"/>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Repair Time dài nhất: 45,44</a:t>
            </a:r>
            <a:endParaRPr lang="en-US" sz="1050" dirty="0"/>
          </a:p>
        </p:txBody>
      </p:sp>
      <p:sp>
        <p:nvSpPr>
          <p:cNvPr id="14" name="Text 12"/>
          <p:cNvSpPr/>
          <p:nvPr/>
        </p:nvSpPr>
        <p:spPr>
          <a:xfrm>
            <a:off x="777240" y="5047488"/>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Complaint Rate cao nhất: 1,40%</a:t>
            </a:r>
            <a:endParaRPr lang="en-US" sz="1050" dirty="0"/>
          </a:p>
        </p:txBody>
      </p:sp>
      <p:sp>
        <p:nvSpPr>
          <p:cNvPr id="15" name="Shape 13"/>
          <p:cNvSpPr/>
          <p:nvPr/>
        </p:nvSpPr>
        <p:spPr>
          <a:xfrm>
            <a:off x="4297680" y="1234440"/>
            <a:ext cx="3566160" cy="5029200"/>
          </a:xfrm>
          <a:prstGeom prst="roundRect">
            <a:avLst>
              <a:gd name="adj" fmla="val 2051"/>
            </a:avLst>
          </a:prstGeom>
          <a:solidFill>
            <a:srgbClr val="F4F6FB"/>
          </a:solidFill>
          <a:ln/>
        </p:spPr>
      </p:sp>
      <p:sp>
        <p:nvSpPr>
          <p:cNvPr id="16" name="Shape 14"/>
          <p:cNvSpPr/>
          <p:nvPr/>
        </p:nvSpPr>
        <p:spPr>
          <a:xfrm>
            <a:off x="4297680" y="1234440"/>
            <a:ext cx="3566160" cy="777240"/>
          </a:xfrm>
          <a:prstGeom prst="rect">
            <a:avLst/>
          </a:prstGeom>
          <a:solidFill>
            <a:srgbClr val="1E8F5F"/>
          </a:solidFill>
          <a:ln/>
        </p:spPr>
      </p:sp>
      <p:sp>
        <p:nvSpPr>
          <p:cNvPr id="17" name="Text 15"/>
          <p:cNvSpPr/>
          <p:nvPr/>
        </p:nvSpPr>
        <p:spPr>
          <a:xfrm>
            <a:off x="4526280" y="1307592"/>
            <a:ext cx="31089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NORTH</a:t>
            </a:r>
            <a:endParaRPr lang="en-US" sz="1700" dirty="0"/>
          </a:p>
        </p:txBody>
      </p:sp>
      <p:sp>
        <p:nvSpPr>
          <p:cNvPr id="18" name="Text 16"/>
          <p:cNvSpPr/>
          <p:nvPr/>
        </p:nvSpPr>
        <p:spPr>
          <a:xfrm>
            <a:off x="4526280" y="1655064"/>
            <a:ext cx="310896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Cân bằng nhất</a:t>
            </a:r>
            <a:endParaRPr lang="en-US" sz="1100" dirty="0"/>
          </a:p>
        </p:txBody>
      </p:sp>
      <p:sp>
        <p:nvSpPr>
          <p:cNvPr id="19" name="Text 17"/>
          <p:cNvSpPr/>
          <p:nvPr/>
        </p:nvSpPr>
        <p:spPr>
          <a:xfrm>
            <a:off x="4526280" y="2148840"/>
            <a:ext cx="3108960" cy="274320"/>
          </a:xfrm>
          <a:prstGeom prst="rect">
            <a:avLst/>
          </a:prstGeom>
          <a:noFill/>
          <a:ln/>
        </p:spPr>
        <p:txBody>
          <a:bodyPr wrap="square" lIns="0" tIns="0" rIns="0" bIns="0" rtlCol="0" anchor="ctr"/>
          <a:lstStyle/>
          <a:p>
            <a:pPr indent="0" marL="0">
              <a:buNone/>
            </a:pPr>
            <a:r>
              <a:rPr lang="en-US" sz="1200" b="1" dirty="0">
                <a:solidFill>
                  <a:srgbClr val="1E8F5F"/>
                </a:solidFill>
                <a:latin typeface="Calibri" pitchFamily="34" charset="0"/>
                <a:ea typeface="Calibri" pitchFamily="34" charset="-122"/>
                <a:cs typeface="Calibri" pitchFamily="34" charset="-120"/>
              </a:rPr>
              <a:t>Điểm mạnh</a:t>
            </a:r>
            <a:endParaRPr lang="en-US" sz="1200" dirty="0"/>
          </a:p>
        </p:txBody>
      </p:sp>
      <p:sp>
        <p:nvSpPr>
          <p:cNvPr id="20" name="Text 18"/>
          <p:cNvSpPr/>
          <p:nvPr/>
        </p:nvSpPr>
        <p:spPr>
          <a:xfrm>
            <a:off x="4526280" y="2468880"/>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Customer Rating cao nhất: 4,60</a:t>
            </a:r>
            <a:endParaRPr lang="en-US" sz="1050" dirty="0"/>
          </a:p>
        </p:txBody>
      </p:sp>
      <p:sp>
        <p:nvSpPr>
          <p:cNvPr id="21" name="Text 19"/>
          <p:cNvSpPr/>
          <p:nvPr/>
        </p:nvSpPr>
        <p:spPr>
          <a:xfrm>
            <a:off x="4526280" y="2999232"/>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Complaint Rate thấp nhất: 1,27%</a:t>
            </a:r>
            <a:endParaRPr lang="en-US" sz="1050" dirty="0"/>
          </a:p>
        </p:txBody>
      </p:sp>
      <p:sp>
        <p:nvSpPr>
          <p:cNvPr id="22" name="Text 20"/>
          <p:cNvSpPr/>
          <p:nvPr/>
        </p:nvSpPr>
        <p:spPr>
          <a:xfrm>
            <a:off x="4526280" y="352958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Repair Time thấp hơn Central</a:t>
            </a:r>
            <a:endParaRPr lang="en-US" sz="1050" dirty="0"/>
          </a:p>
        </p:txBody>
      </p:sp>
      <p:sp>
        <p:nvSpPr>
          <p:cNvPr id="23" name="Text 21"/>
          <p:cNvSpPr/>
          <p:nvPr/>
        </p:nvSpPr>
        <p:spPr>
          <a:xfrm>
            <a:off x="4526280" y="4197096"/>
            <a:ext cx="310896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Cần cải thiện</a:t>
            </a:r>
            <a:endParaRPr lang="en-US" sz="1200" dirty="0"/>
          </a:p>
        </p:txBody>
      </p:sp>
      <p:sp>
        <p:nvSpPr>
          <p:cNvPr id="24" name="Text 22"/>
          <p:cNvSpPr/>
          <p:nvPr/>
        </p:nvSpPr>
        <p:spPr>
          <a:xfrm>
            <a:off x="4526280" y="4517136"/>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Tổng Jobs &amp; Revenue thấp hơn Central ~11%</a:t>
            </a:r>
            <a:endParaRPr lang="en-US" sz="1050" dirty="0"/>
          </a:p>
        </p:txBody>
      </p:sp>
      <p:sp>
        <p:nvSpPr>
          <p:cNvPr id="25" name="Shape 23"/>
          <p:cNvSpPr/>
          <p:nvPr/>
        </p:nvSpPr>
        <p:spPr>
          <a:xfrm>
            <a:off x="8046720" y="1234440"/>
            <a:ext cx="3566160" cy="5029200"/>
          </a:xfrm>
          <a:prstGeom prst="roundRect">
            <a:avLst>
              <a:gd name="adj" fmla="val 2051"/>
            </a:avLst>
          </a:prstGeom>
          <a:solidFill>
            <a:srgbClr val="F4F6FB"/>
          </a:solidFill>
          <a:ln/>
        </p:spPr>
      </p:sp>
      <p:sp>
        <p:nvSpPr>
          <p:cNvPr id="26" name="Shape 24"/>
          <p:cNvSpPr/>
          <p:nvPr/>
        </p:nvSpPr>
        <p:spPr>
          <a:xfrm>
            <a:off x="8046720" y="1234440"/>
            <a:ext cx="3566160" cy="777240"/>
          </a:xfrm>
          <a:prstGeom prst="rect">
            <a:avLst/>
          </a:prstGeom>
          <a:solidFill>
            <a:srgbClr val="C9A44C"/>
          </a:solidFill>
          <a:ln/>
        </p:spPr>
      </p:sp>
      <p:sp>
        <p:nvSpPr>
          <p:cNvPr id="27" name="Text 25"/>
          <p:cNvSpPr/>
          <p:nvPr/>
        </p:nvSpPr>
        <p:spPr>
          <a:xfrm>
            <a:off x="8275320" y="1307592"/>
            <a:ext cx="31089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SOUTH</a:t>
            </a:r>
            <a:endParaRPr lang="en-US" sz="1700" dirty="0"/>
          </a:p>
        </p:txBody>
      </p:sp>
      <p:sp>
        <p:nvSpPr>
          <p:cNvPr id="28" name="Text 26"/>
          <p:cNvSpPr/>
          <p:nvPr/>
        </p:nvSpPr>
        <p:spPr>
          <a:xfrm>
            <a:off x="8275320" y="1655064"/>
            <a:ext cx="310896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Hiệu quả vận hành cao</a:t>
            </a:r>
            <a:endParaRPr lang="en-US" sz="1100" dirty="0"/>
          </a:p>
        </p:txBody>
      </p:sp>
      <p:sp>
        <p:nvSpPr>
          <p:cNvPr id="29" name="Text 27"/>
          <p:cNvSpPr/>
          <p:nvPr/>
        </p:nvSpPr>
        <p:spPr>
          <a:xfrm>
            <a:off x="8275320" y="2148840"/>
            <a:ext cx="3108960" cy="274320"/>
          </a:xfrm>
          <a:prstGeom prst="rect">
            <a:avLst/>
          </a:prstGeom>
          <a:noFill/>
          <a:ln/>
        </p:spPr>
        <p:txBody>
          <a:bodyPr wrap="square" lIns="0" tIns="0" rIns="0" bIns="0" rtlCol="0" anchor="ctr"/>
          <a:lstStyle/>
          <a:p>
            <a:pPr indent="0" marL="0">
              <a:buNone/>
            </a:pPr>
            <a:r>
              <a:rPr lang="en-US" sz="1200" b="1" dirty="0">
                <a:solidFill>
                  <a:srgbClr val="1E8F5F"/>
                </a:solidFill>
                <a:latin typeface="Calibri" pitchFamily="34" charset="0"/>
                <a:ea typeface="Calibri" pitchFamily="34" charset="-122"/>
                <a:cs typeface="Calibri" pitchFamily="34" charset="-120"/>
              </a:rPr>
              <a:t>Điểm mạnh</a:t>
            </a:r>
            <a:endParaRPr lang="en-US" sz="1200" dirty="0"/>
          </a:p>
        </p:txBody>
      </p:sp>
      <p:sp>
        <p:nvSpPr>
          <p:cNvPr id="30" name="Text 28"/>
          <p:cNvSpPr/>
          <p:nvPr/>
        </p:nvSpPr>
        <p:spPr>
          <a:xfrm>
            <a:off x="8275320" y="2468880"/>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Repair Time thấp nhất: 44,38</a:t>
            </a:r>
            <a:endParaRPr lang="en-US" sz="1050" dirty="0"/>
          </a:p>
        </p:txBody>
      </p:sp>
      <p:sp>
        <p:nvSpPr>
          <p:cNvPr id="31" name="Text 29"/>
          <p:cNvSpPr/>
          <p:nvPr/>
        </p:nvSpPr>
        <p:spPr>
          <a:xfrm>
            <a:off x="8275320" y="2999232"/>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Customer Rating: 4,60</a:t>
            </a:r>
            <a:endParaRPr lang="en-US" sz="1050" dirty="0"/>
          </a:p>
        </p:txBody>
      </p:sp>
      <p:sp>
        <p:nvSpPr>
          <p:cNvPr id="32" name="Text 30"/>
          <p:cNvSpPr/>
          <p:nvPr/>
        </p:nvSpPr>
        <p:spPr>
          <a:xfrm>
            <a:off x="8275320" y="3529584"/>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Complaint Rate thấp: 1,29%</a:t>
            </a:r>
            <a:endParaRPr lang="en-US" sz="1050" dirty="0"/>
          </a:p>
        </p:txBody>
      </p:sp>
      <p:sp>
        <p:nvSpPr>
          <p:cNvPr id="33" name="Text 31"/>
          <p:cNvSpPr/>
          <p:nvPr/>
        </p:nvSpPr>
        <p:spPr>
          <a:xfrm>
            <a:off x="8275320" y="4197096"/>
            <a:ext cx="310896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Cần cải thiện</a:t>
            </a:r>
            <a:endParaRPr lang="en-US" sz="1200" dirty="0"/>
          </a:p>
        </p:txBody>
      </p:sp>
      <p:sp>
        <p:nvSpPr>
          <p:cNvPr id="34" name="Text 32"/>
          <p:cNvSpPr/>
          <p:nvPr/>
        </p:nvSpPr>
        <p:spPr>
          <a:xfrm>
            <a:off x="8275320" y="4517136"/>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Revenue thấp nhất</a:t>
            </a:r>
            <a:endParaRPr lang="en-US" sz="1050" dirty="0"/>
          </a:p>
        </p:txBody>
      </p:sp>
      <p:sp>
        <p:nvSpPr>
          <p:cNvPr id="35" name="Text 33"/>
          <p:cNvSpPr/>
          <p:nvPr/>
        </p:nvSpPr>
        <p:spPr>
          <a:xfrm>
            <a:off x="8275320" y="5047488"/>
            <a:ext cx="3108960" cy="502920"/>
          </a:xfrm>
          <a:prstGeom prst="rect">
            <a:avLst/>
          </a:prstGeom>
          <a:noFill/>
          <a:ln/>
        </p:spPr>
        <p:txBody>
          <a:bodyPr wrap="square" lIns="0" tIns="0" rIns="0" bIns="0" rtlCol="0" anchor="ctr"/>
          <a:lstStyle/>
          <a:p>
            <a:pPr indent="0" marL="0">
              <a:lnSpc>
                <a:spcPts val="1300"/>
              </a:lnSpc>
              <a:buNone/>
            </a:pPr>
            <a:r>
              <a:rPr lang="en-US" sz="1050" dirty="0">
                <a:solidFill>
                  <a:srgbClr val="1F2430"/>
                </a:solidFill>
                <a:latin typeface="Calibri" pitchFamily="34" charset="0"/>
                <a:ea typeface="Calibri" pitchFamily="34" charset="-122"/>
                <a:cs typeface="Calibri" pitchFamily="34" charset="-120"/>
              </a:rPr>
              <a:t>•  Revenue/Job thấp nhất: 1,49</a:t>
            </a:r>
            <a:endParaRPr lang="en-US" sz="1050" dirty="0"/>
          </a:p>
        </p:txBody>
      </p:sp>
      <p:sp>
        <p:nvSpPr>
          <p:cNvPr id="36" name="Text 3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37" name="Text 35"/>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548640"/>
            <a:ext cx="7315200" cy="365760"/>
          </a:xfrm>
          <a:prstGeom prst="rect">
            <a:avLst/>
          </a:prstGeom>
          <a:noFill/>
          <a:ln/>
        </p:spPr>
        <p:txBody>
          <a:bodyPr wrap="square" rtlCol="0" anchor="ctr"/>
          <a:lstStyle/>
          <a:p>
            <a:pPr indent="0" marL="0">
              <a:buNone/>
            </a:pPr>
            <a:r>
              <a:rPr lang="en-US" sz="1300" b="1" spc="200" kern="0" dirty="0">
                <a:solidFill>
                  <a:srgbClr val="C9A44C"/>
                </a:solidFill>
                <a:latin typeface="Calibri" pitchFamily="34" charset="0"/>
                <a:ea typeface="Calibri" pitchFamily="34" charset="-122"/>
                <a:cs typeface="Calibri" pitchFamily="34" charset="-120"/>
              </a:rPr>
              <a:t>REGIONAL INSIGHT</a:t>
            </a:r>
            <a:endParaRPr lang="en-US" sz="1300" dirty="0"/>
          </a:p>
        </p:txBody>
      </p:sp>
      <p:sp>
        <p:nvSpPr>
          <p:cNvPr id="3" name="Text 1"/>
          <p:cNvSpPr/>
          <p:nvPr/>
        </p:nvSpPr>
        <p:spPr>
          <a:xfrm>
            <a:off x="822960" y="91440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North là benchmark cho hiệu suất bền vững</a:t>
            </a:r>
            <a:endParaRPr lang="en-US" sz="2400" dirty="0"/>
          </a:p>
        </p:txBody>
      </p:sp>
      <p:sp>
        <p:nvSpPr>
          <p:cNvPr id="4" name="Shape 2"/>
          <p:cNvSpPr/>
          <p:nvPr/>
        </p:nvSpPr>
        <p:spPr>
          <a:xfrm>
            <a:off x="822960" y="1874520"/>
            <a:ext cx="10515600" cy="1051560"/>
          </a:xfrm>
          <a:prstGeom prst="roundRect">
            <a:avLst>
              <a:gd name="adj" fmla="val 6957"/>
            </a:avLst>
          </a:prstGeom>
          <a:solidFill>
            <a:srgbClr val="263173"/>
          </a:solidFill>
          <a:ln/>
        </p:spPr>
      </p:sp>
      <p:sp>
        <p:nvSpPr>
          <p:cNvPr id="5" name="Text 3"/>
          <p:cNvSpPr/>
          <p:nvPr/>
        </p:nvSpPr>
        <p:spPr>
          <a:xfrm>
            <a:off x="1051560" y="1965960"/>
            <a:ext cx="1828800" cy="868680"/>
          </a:xfrm>
          <a:prstGeom prst="rect">
            <a:avLst/>
          </a:prstGeom>
          <a:noFill/>
          <a:ln/>
        </p:spPr>
        <p:txBody>
          <a:bodyPr wrap="square" lIns="0" tIns="0" rIns="0" bIns="0" rtlCol="0" anchor="ctr"/>
          <a:lstStyle/>
          <a:p>
            <a:pPr indent="0" marL="0">
              <a:buNone/>
            </a:pPr>
            <a:r>
              <a:rPr lang="en-US" sz="1600" b="1" dirty="0">
                <a:solidFill>
                  <a:srgbClr val="C9A44C"/>
                </a:solidFill>
                <a:latin typeface="Cambria" pitchFamily="34" charset="0"/>
                <a:ea typeface="Cambria" pitchFamily="34" charset="-122"/>
                <a:cs typeface="Cambria" pitchFamily="34" charset="-120"/>
              </a:rPr>
              <a:t>Central</a:t>
            </a:r>
            <a:endParaRPr lang="en-US" sz="1600" dirty="0"/>
          </a:p>
        </p:txBody>
      </p:sp>
      <p:sp>
        <p:nvSpPr>
          <p:cNvPr id="6" name="Text 4"/>
          <p:cNvSpPr/>
          <p:nvPr/>
        </p:nvSpPr>
        <p:spPr>
          <a:xfrm>
            <a:off x="2926080" y="1965960"/>
            <a:ext cx="8229600" cy="868680"/>
          </a:xfrm>
          <a:prstGeom prst="rect">
            <a:avLst/>
          </a:prstGeom>
          <a:noFill/>
          <a:ln/>
        </p:spPr>
        <p:txBody>
          <a:bodyPr wrap="square" lIns="0" tIns="0" rIns="0" bIns="0" rtlCol="0" anchor="ctr"/>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Dẫn đầu về quy mô &amp; doanh thu, nhưng cần nâng cao chất lượng dịch vụ — áp lực xử lý công việc lớn đang ảnh hưởng đến trải nghiệm khách hàng.</a:t>
            </a:r>
            <a:endParaRPr lang="en-US" sz="1250" dirty="0"/>
          </a:p>
        </p:txBody>
      </p:sp>
      <p:sp>
        <p:nvSpPr>
          <p:cNvPr id="7" name="Shape 5"/>
          <p:cNvSpPr/>
          <p:nvPr/>
        </p:nvSpPr>
        <p:spPr>
          <a:xfrm>
            <a:off x="822960" y="3108960"/>
            <a:ext cx="10515600" cy="1051560"/>
          </a:xfrm>
          <a:prstGeom prst="roundRect">
            <a:avLst>
              <a:gd name="adj" fmla="val 6957"/>
            </a:avLst>
          </a:prstGeom>
          <a:solidFill>
            <a:srgbClr val="263173"/>
          </a:solidFill>
          <a:ln/>
        </p:spPr>
      </p:sp>
      <p:sp>
        <p:nvSpPr>
          <p:cNvPr id="8" name="Text 6"/>
          <p:cNvSpPr/>
          <p:nvPr/>
        </p:nvSpPr>
        <p:spPr>
          <a:xfrm>
            <a:off x="1051560" y="3200400"/>
            <a:ext cx="1828800" cy="868680"/>
          </a:xfrm>
          <a:prstGeom prst="rect">
            <a:avLst/>
          </a:prstGeom>
          <a:noFill/>
          <a:ln/>
        </p:spPr>
        <p:txBody>
          <a:bodyPr wrap="square" lIns="0" tIns="0" rIns="0" bIns="0" rtlCol="0" anchor="ctr"/>
          <a:lstStyle/>
          <a:p>
            <a:pPr indent="0" marL="0">
              <a:buNone/>
            </a:pPr>
            <a:r>
              <a:rPr lang="en-US" sz="1600" b="1" dirty="0">
                <a:solidFill>
                  <a:srgbClr val="C9A44C"/>
                </a:solidFill>
                <a:latin typeface="Cambria" pitchFamily="34" charset="0"/>
                <a:ea typeface="Cambria" pitchFamily="34" charset="-122"/>
                <a:cs typeface="Cambria" pitchFamily="34" charset="-120"/>
              </a:rPr>
              <a:t>North</a:t>
            </a:r>
            <a:endParaRPr lang="en-US" sz="1600" dirty="0"/>
          </a:p>
        </p:txBody>
      </p:sp>
      <p:sp>
        <p:nvSpPr>
          <p:cNvPr id="9" name="Text 7"/>
          <p:cNvSpPr/>
          <p:nvPr/>
        </p:nvSpPr>
        <p:spPr>
          <a:xfrm>
            <a:off x="2926080" y="3200400"/>
            <a:ext cx="8229600" cy="868680"/>
          </a:xfrm>
          <a:prstGeom prst="rect">
            <a:avLst/>
          </a:prstGeom>
          <a:noFill/>
          <a:ln/>
        </p:spPr>
        <p:txBody>
          <a:bodyPr wrap="square" lIns="0" tIns="0" rIns="0" bIns="0" rtlCol="0" anchor="ctr"/>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Hiệu suất cân bằng nhất giữa năng suất và chất lượng — phù hợp làm benchmark để chia sẻ quy trình cho các khu vực khác.</a:t>
            </a:r>
            <a:endParaRPr lang="en-US" sz="1250" dirty="0"/>
          </a:p>
        </p:txBody>
      </p:sp>
      <p:sp>
        <p:nvSpPr>
          <p:cNvPr id="10" name="Shape 8"/>
          <p:cNvSpPr/>
          <p:nvPr/>
        </p:nvSpPr>
        <p:spPr>
          <a:xfrm>
            <a:off x="822960" y="4343400"/>
            <a:ext cx="10515600" cy="1051560"/>
          </a:xfrm>
          <a:prstGeom prst="roundRect">
            <a:avLst>
              <a:gd name="adj" fmla="val 6957"/>
            </a:avLst>
          </a:prstGeom>
          <a:solidFill>
            <a:srgbClr val="263173"/>
          </a:solidFill>
          <a:ln/>
        </p:spPr>
      </p:sp>
      <p:sp>
        <p:nvSpPr>
          <p:cNvPr id="11" name="Text 9"/>
          <p:cNvSpPr/>
          <p:nvPr/>
        </p:nvSpPr>
        <p:spPr>
          <a:xfrm>
            <a:off x="1051560" y="4434840"/>
            <a:ext cx="1828800" cy="868680"/>
          </a:xfrm>
          <a:prstGeom prst="rect">
            <a:avLst/>
          </a:prstGeom>
          <a:noFill/>
          <a:ln/>
        </p:spPr>
        <p:txBody>
          <a:bodyPr wrap="square" lIns="0" tIns="0" rIns="0" bIns="0" rtlCol="0" anchor="ctr"/>
          <a:lstStyle/>
          <a:p>
            <a:pPr indent="0" marL="0">
              <a:buNone/>
            </a:pPr>
            <a:r>
              <a:rPr lang="en-US" sz="1600" b="1" dirty="0">
                <a:solidFill>
                  <a:srgbClr val="C9A44C"/>
                </a:solidFill>
                <a:latin typeface="Cambria" pitchFamily="34" charset="0"/>
                <a:ea typeface="Cambria" pitchFamily="34" charset="-122"/>
                <a:cs typeface="Cambria" pitchFamily="34" charset="-120"/>
              </a:rPr>
              <a:t>South</a:t>
            </a:r>
            <a:endParaRPr lang="en-US" sz="1600" dirty="0"/>
          </a:p>
        </p:txBody>
      </p:sp>
      <p:sp>
        <p:nvSpPr>
          <p:cNvPr id="12" name="Text 10"/>
          <p:cNvSpPr/>
          <p:nvPr/>
        </p:nvSpPr>
        <p:spPr>
          <a:xfrm>
            <a:off x="2926080" y="4434840"/>
            <a:ext cx="8229600" cy="868680"/>
          </a:xfrm>
          <a:prstGeom prst="rect">
            <a:avLst/>
          </a:prstGeom>
          <a:noFill/>
          <a:ln/>
        </p:spPr>
        <p:txBody>
          <a:bodyPr wrap="square" lIns="0" tIns="0" rIns="0" bIns="0" rtlCol="0" anchor="ctr"/>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Vận hành hiệu quả, thời gian sửa chữa ngắn nhất, nhưng còn dư địa cải thiện giá trị doanh thu trên mỗi công việc.</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371600" y="4754880"/>
            <a:ext cx="4114800" cy="4114800"/>
          </a:xfrm>
          <a:prstGeom prst="ellipse">
            <a:avLst/>
          </a:prstGeom>
          <a:solidFill>
            <a:srgbClr val="263173"/>
          </a:solidFill>
          <a:ln/>
        </p:spPr>
      </p:sp>
      <p:sp>
        <p:nvSpPr>
          <p:cNvPr id="3" name="Text 1"/>
          <p:cNvSpPr/>
          <p:nvPr/>
        </p:nvSpPr>
        <p:spPr>
          <a:xfrm>
            <a:off x="822960" y="2103120"/>
            <a:ext cx="2743200" cy="1097280"/>
          </a:xfrm>
          <a:prstGeom prst="rect">
            <a:avLst/>
          </a:prstGeom>
          <a:noFill/>
          <a:ln/>
        </p:spPr>
        <p:txBody>
          <a:bodyPr wrap="square" rtlCol="0" anchor="ctr"/>
          <a:lstStyle/>
          <a:p>
            <a:pPr indent="0" marL="0">
              <a:buNone/>
            </a:pPr>
            <a:r>
              <a:rPr lang="en-US" sz="6000" b="1" dirty="0">
                <a:solidFill>
                  <a:srgbClr val="C9A44C"/>
                </a:solidFill>
                <a:latin typeface="Cambria" pitchFamily="34" charset="0"/>
                <a:ea typeface="Cambria" pitchFamily="34" charset="-122"/>
                <a:cs typeface="Cambria" pitchFamily="34" charset="-120"/>
              </a:rPr>
              <a:t>PHẦN 03</a:t>
            </a:r>
            <a:endParaRPr lang="en-US" sz="6000" dirty="0"/>
          </a:p>
        </p:txBody>
      </p:sp>
      <p:sp>
        <p:nvSpPr>
          <p:cNvPr id="4" name="Text 2"/>
          <p:cNvSpPr/>
          <p:nvPr/>
        </p:nvSpPr>
        <p:spPr>
          <a:xfrm>
            <a:off x="822960" y="3200400"/>
            <a:ext cx="9601200" cy="10058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Diễn biến hiệu suất kỹ thuật viên theo tháng</a:t>
            </a:r>
            <a:endParaRPr lang="en-US" sz="3200" dirty="0"/>
          </a:p>
        </p:txBody>
      </p:sp>
      <p:sp>
        <p:nvSpPr>
          <p:cNvPr id="5" name="Text 3"/>
          <p:cNvSpPr/>
          <p:nvPr/>
        </p:nvSpPr>
        <p:spPr>
          <a:xfrm>
            <a:off x="822960" y="4069080"/>
            <a:ext cx="9144000" cy="5486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Tổng hợp các mốc biến động chính từ Tháng 01 đến Tháng 06/2026</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MONTHLY TREND</a:t>
            </a:r>
            <a:endParaRPr lang="en-US" sz="1200" dirty="0"/>
          </a:p>
        </p:txBody>
      </p:sp>
      <p:sp>
        <p:nvSpPr>
          <p:cNvPr id="3" name="Text 1"/>
          <p:cNvSpPr/>
          <p:nvPr/>
        </p:nvSpPr>
        <p:spPr>
          <a:xfrm>
            <a:off x="548640" y="548640"/>
            <a:ext cx="10972800" cy="502920"/>
          </a:xfrm>
          <a:prstGeom prst="rect">
            <a:avLst/>
          </a:prstGeom>
          <a:noFill/>
          <a:ln/>
        </p:spPr>
        <p:txBody>
          <a:bodyPr wrap="square" rtlCol="0" anchor="ctr"/>
          <a:lstStyle/>
          <a:p>
            <a:pPr indent="0" marL="0">
              <a:buNone/>
            </a:pPr>
            <a:r>
              <a:rPr lang="en-US" sz="2100" b="1" dirty="0">
                <a:solidFill>
                  <a:srgbClr val="1F2430"/>
                </a:solidFill>
                <a:latin typeface="Cambria" pitchFamily="34" charset="0"/>
                <a:ea typeface="Cambria" pitchFamily="34" charset="-122"/>
                <a:cs typeface="Cambria" pitchFamily="34" charset="-120"/>
              </a:rPr>
              <a:t>Từ tăng trưởng đến điều chỉnh: hành trình 6 tháng</a:t>
            </a:r>
            <a:endParaRPr lang="en-US" sz="2100" dirty="0"/>
          </a:p>
        </p:txBody>
      </p:sp>
      <p:sp>
        <p:nvSpPr>
          <p:cNvPr id="4" name="Shape 2"/>
          <p:cNvSpPr/>
          <p:nvPr/>
        </p:nvSpPr>
        <p:spPr>
          <a:xfrm>
            <a:off x="548640" y="1463040"/>
            <a:ext cx="2084832" cy="4206240"/>
          </a:xfrm>
          <a:prstGeom prst="roundRect">
            <a:avLst>
              <a:gd name="adj" fmla="val 3509"/>
            </a:avLst>
          </a:prstGeom>
          <a:solidFill>
            <a:srgbClr val="F4F6FB"/>
          </a:solidFill>
          <a:ln/>
        </p:spPr>
      </p:sp>
      <p:sp>
        <p:nvSpPr>
          <p:cNvPr id="5" name="Shape 3"/>
          <p:cNvSpPr/>
          <p:nvPr/>
        </p:nvSpPr>
        <p:spPr>
          <a:xfrm>
            <a:off x="548640" y="1463040"/>
            <a:ext cx="2084832" cy="457200"/>
          </a:xfrm>
          <a:prstGeom prst="rect">
            <a:avLst/>
          </a:prstGeom>
          <a:solidFill>
            <a:srgbClr val="C9A44C"/>
          </a:solidFill>
          <a:ln/>
        </p:spPr>
      </p:sp>
      <p:sp>
        <p:nvSpPr>
          <p:cNvPr id="6" name="Text 4"/>
          <p:cNvSpPr/>
          <p:nvPr/>
        </p:nvSpPr>
        <p:spPr>
          <a:xfrm>
            <a:off x="640080" y="1463040"/>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THÁNG 02</a:t>
            </a:r>
            <a:endParaRPr lang="en-US" sz="1150" dirty="0"/>
          </a:p>
        </p:txBody>
      </p:sp>
      <p:sp>
        <p:nvSpPr>
          <p:cNvPr id="7" name="Text 5"/>
          <p:cNvSpPr/>
          <p:nvPr/>
        </p:nvSpPr>
        <p:spPr>
          <a:xfrm>
            <a:off x="685800" y="2057400"/>
            <a:ext cx="1810512" cy="868680"/>
          </a:xfrm>
          <a:prstGeom prst="rect">
            <a:avLst/>
          </a:prstGeom>
          <a:noFill/>
          <a:ln/>
        </p:spPr>
        <p:txBody>
          <a:bodyPr wrap="square" lIns="0" tIns="0" rIns="0" bIns="0" rtlCol="0" anchor="ctr"/>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Năng suất tăng, chất lượng chưa cải thiện</a:t>
            </a:r>
            <a:endParaRPr lang="en-US" sz="1150" dirty="0"/>
          </a:p>
        </p:txBody>
      </p:sp>
      <p:sp>
        <p:nvSpPr>
          <p:cNvPr id="8" name="Text 6"/>
          <p:cNvSpPr/>
          <p:nvPr/>
        </p:nvSpPr>
        <p:spPr>
          <a:xfrm>
            <a:off x="685800" y="3017520"/>
            <a:ext cx="1810512" cy="2514600"/>
          </a:xfrm>
          <a:prstGeom prst="rect">
            <a:avLst/>
          </a:prstGeom>
          <a:noFill/>
          <a:ln/>
        </p:spPr>
        <p:txBody>
          <a:bodyPr wrap="square" lIns="0" tIns="0" rIns="0" bIns="0" rtlCol="0" anchor="ctr"/>
          <a:lstStyle/>
          <a:p>
            <a:pPr indent="0" marL="0">
              <a:lnSpc>
                <a:spcPts val="1350"/>
              </a:lnSpc>
              <a:buNone/>
            </a:pPr>
            <a:r>
              <a:rPr lang="en-US" sz="1000" dirty="0">
                <a:solidFill>
                  <a:srgbClr val="6B7280"/>
                </a:solidFill>
                <a:latin typeface="Calibri" pitchFamily="34" charset="0"/>
                <a:ea typeface="Calibri" pitchFamily="34" charset="-122"/>
                <a:cs typeface="Calibri" pitchFamily="34" charset="-120"/>
              </a:rPr>
              <a:t>Jobs +16,20%, Revenue +16,03%; Complaint Rate tăng nhẹ +1,45%.</a:t>
            </a:r>
            <a:endParaRPr lang="en-US" sz="1000" dirty="0"/>
          </a:p>
        </p:txBody>
      </p:sp>
      <p:sp>
        <p:nvSpPr>
          <p:cNvPr id="9" name="Shape 7"/>
          <p:cNvSpPr/>
          <p:nvPr/>
        </p:nvSpPr>
        <p:spPr>
          <a:xfrm>
            <a:off x="2770632" y="1463040"/>
            <a:ext cx="2084832" cy="4206240"/>
          </a:xfrm>
          <a:prstGeom prst="roundRect">
            <a:avLst>
              <a:gd name="adj" fmla="val 3509"/>
            </a:avLst>
          </a:prstGeom>
          <a:solidFill>
            <a:srgbClr val="F4F6FB"/>
          </a:solidFill>
          <a:ln/>
        </p:spPr>
      </p:sp>
      <p:sp>
        <p:nvSpPr>
          <p:cNvPr id="10" name="Shape 8"/>
          <p:cNvSpPr/>
          <p:nvPr/>
        </p:nvSpPr>
        <p:spPr>
          <a:xfrm>
            <a:off x="2770632" y="1463040"/>
            <a:ext cx="2084832" cy="457200"/>
          </a:xfrm>
          <a:prstGeom prst="rect">
            <a:avLst/>
          </a:prstGeom>
          <a:solidFill>
            <a:srgbClr val="1E8F5F"/>
          </a:solidFill>
          <a:ln/>
        </p:spPr>
      </p:sp>
      <p:sp>
        <p:nvSpPr>
          <p:cNvPr id="11" name="Text 9"/>
          <p:cNvSpPr/>
          <p:nvPr/>
        </p:nvSpPr>
        <p:spPr>
          <a:xfrm>
            <a:off x="2862072" y="1463040"/>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THÁNG 03</a:t>
            </a:r>
            <a:endParaRPr lang="en-US" sz="1150" dirty="0"/>
          </a:p>
        </p:txBody>
      </p:sp>
      <p:sp>
        <p:nvSpPr>
          <p:cNvPr id="12" name="Text 10"/>
          <p:cNvSpPr/>
          <p:nvPr/>
        </p:nvSpPr>
        <p:spPr>
          <a:xfrm>
            <a:off x="2907792" y="2057400"/>
            <a:ext cx="1810512" cy="868680"/>
          </a:xfrm>
          <a:prstGeom prst="rect">
            <a:avLst/>
          </a:prstGeom>
          <a:noFill/>
          <a:ln/>
        </p:spPr>
        <p:txBody>
          <a:bodyPr wrap="square" lIns="0" tIns="0" rIns="0" bIns="0" rtlCol="0" anchor="ctr"/>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Chất lượng tốt nhất trong kỳ</a:t>
            </a:r>
            <a:endParaRPr lang="en-US" sz="1150" dirty="0"/>
          </a:p>
        </p:txBody>
      </p:sp>
      <p:sp>
        <p:nvSpPr>
          <p:cNvPr id="13" name="Text 11"/>
          <p:cNvSpPr/>
          <p:nvPr/>
        </p:nvSpPr>
        <p:spPr>
          <a:xfrm>
            <a:off x="2907792" y="3017520"/>
            <a:ext cx="1810512" cy="2514600"/>
          </a:xfrm>
          <a:prstGeom prst="rect">
            <a:avLst/>
          </a:prstGeom>
          <a:noFill/>
          <a:ln/>
        </p:spPr>
        <p:txBody>
          <a:bodyPr wrap="square" lIns="0" tIns="0" rIns="0" bIns="0" rtlCol="0" anchor="ctr"/>
          <a:lstStyle/>
          <a:p>
            <a:pPr indent="0" marL="0">
              <a:lnSpc>
                <a:spcPts val="1350"/>
              </a:lnSpc>
              <a:buNone/>
            </a:pPr>
            <a:r>
              <a:rPr lang="en-US" sz="1000" dirty="0">
                <a:solidFill>
                  <a:srgbClr val="6B7280"/>
                </a:solidFill>
                <a:latin typeface="Calibri" pitchFamily="34" charset="0"/>
                <a:ea typeface="Calibri" pitchFamily="34" charset="-122"/>
                <a:cs typeface="Calibri" pitchFamily="34" charset="-120"/>
              </a:rPr>
              <a:t>Rating cao nhất 4,63; Complaint Rate thấp nhất 1,23% dù sản lượng giảm.</a:t>
            </a:r>
            <a:endParaRPr lang="en-US" sz="1000" dirty="0"/>
          </a:p>
        </p:txBody>
      </p:sp>
      <p:sp>
        <p:nvSpPr>
          <p:cNvPr id="14" name="Shape 12"/>
          <p:cNvSpPr/>
          <p:nvPr/>
        </p:nvSpPr>
        <p:spPr>
          <a:xfrm>
            <a:off x="4992624" y="1463040"/>
            <a:ext cx="2084832" cy="4206240"/>
          </a:xfrm>
          <a:prstGeom prst="roundRect">
            <a:avLst>
              <a:gd name="adj" fmla="val 3509"/>
            </a:avLst>
          </a:prstGeom>
          <a:solidFill>
            <a:srgbClr val="F4F6FB"/>
          </a:solidFill>
          <a:ln/>
        </p:spPr>
      </p:sp>
      <p:sp>
        <p:nvSpPr>
          <p:cNvPr id="15" name="Shape 13"/>
          <p:cNvSpPr/>
          <p:nvPr/>
        </p:nvSpPr>
        <p:spPr>
          <a:xfrm>
            <a:off x="4992624" y="1463040"/>
            <a:ext cx="2084832" cy="457200"/>
          </a:xfrm>
          <a:prstGeom prst="rect">
            <a:avLst/>
          </a:prstGeom>
          <a:solidFill>
            <a:srgbClr val="C0392B"/>
          </a:solidFill>
          <a:ln/>
        </p:spPr>
      </p:sp>
      <p:sp>
        <p:nvSpPr>
          <p:cNvPr id="16" name="Text 14"/>
          <p:cNvSpPr/>
          <p:nvPr/>
        </p:nvSpPr>
        <p:spPr>
          <a:xfrm>
            <a:off x="5084064" y="1463040"/>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THÁNG 04</a:t>
            </a:r>
            <a:endParaRPr lang="en-US" sz="1150" dirty="0"/>
          </a:p>
        </p:txBody>
      </p:sp>
      <p:sp>
        <p:nvSpPr>
          <p:cNvPr id="17" name="Text 15"/>
          <p:cNvSpPr/>
          <p:nvPr/>
        </p:nvSpPr>
        <p:spPr>
          <a:xfrm>
            <a:off x="5129784" y="2057400"/>
            <a:ext cx="1810512" cy="868680"/>
          </a:xfrm>
          <a:prstGeom prst="rect">
            <a:avLst/>
          </a:prstGeom>
          <a:noFill/>
          <a:ln/>
        </p:spPr>
        <p:txBody>
          <a:bodyPr wrap="square" lIns="0" tIns="0" rIns="0" bIns="0" rtlCol="0" anchor="ctr"/>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Hiệu suất thấp nhất</a:t>
            </a:r>
            <a:endParaRPr lang="en-US" sz="1150" dirty="0"/>
          </a:p>
        </p:txBody>
      </p:sp>
      <p:sp>
        <p:nvSpPr>
          <p:cNvPr id="18" name="Text 16"/>
          <p:cNvSpPr/>
          <p:nvPr/>
        </p:nvSpPr>
        <p:spPr>
          <a:xfrm>
            <a:off x="5129784" y="3017520"/>
            <a:ext cx="1810512" cy="2514600"/>
          </a:xfrm>
          <a:prstGeom prst="rect">
            <a:avLst/>
          </a:prstGeom>
          <a:noFill/>
          <a:ln/>
        </p:spPr>
        <p:txBody>
          <a:bodyPr wrap="square" lIns="0" tIns="0" rIns="0" bIns="0" rtlCol="0" anchor="ctr"/>
          <a:lstStyle/>
          <a:p>
            <a:pPr indent="0" marL="0">
              <a:lnSpc>
                <a:spcPts val="1350"/>
              </a:lnSpc>
              <a:buNone/>
            </a:pPr>
            <a:r>
              <a:rPr lang="en-US" sz="1000" dirty="0">
                <a:solidFill>
                  <a:srgbClr val="6B7280"/>
                </a:solidFill>
                <a:latin typeface="Calibri" pitchFamily="34" charset="0"/>
                <a:ea typeface="Calibri" pitchFamily="34" charset="-122"/>
                <a:cs typeface="Calibri" pitchFamily="34" charset="-120"/>
              </a:rPr>
              <a:t>Revenue &amp; Jobs cùng giảm hơn 10%; Repair Time và Complaint Rate tăng mạnh (+12,88%).</a:t>
            </a:r>
            <a:endParaRPr lang="en-US" sz="1000" dirty="0"/>
          </a:p>
        </p:txBody>
      </p:sp>
      <p:sp>
        <p:nvSpPr>
          <p:cNvPr id="19" name="Shape 17"/>
          <p:cNvSpPr/>
          <p:nvPr/>
        </p:nvSpPr>
        <p:spPr>
          <a:xfrm>
            <a:off x="7214616" y="1463040"/>
            <a:ext cx="2084832" cy="4206240"/>
          </a:xfrm>
          <a:prstGeom prst="roundRect">
            <a:avLst>
              <a:gd name="adj" fmla="val 3509"/>
            </a:avLst>
          </a:prstGeom>
          <a:solidFill>
            <a:srgbClr val="F4F6FB"/>
          </a:solidFill>
          <a:ln/>
        </p:spPr>
      </p:sp>
      <p:sp>
        <p:nvSpPr>
          <p:cNvPr id="20" name="Shape 18"/>
          <p:cNvSpPr/>
          <p:nvPr/>
        </p:nvSpPr>
        <p:spPr>
          <a:xfrm>
            <a:off x="7214616" y="1463040"/>
            <a:ext cx="2084832" cy="457200"/>
          </a:xfrm>
          <a:prstGeom prst="rect">
            <a:avLst/>
          </a:prstGeom>
          <a:solidFill>
            <a:srgbClr val="1E8F5F"/>
          </a:solidFill>
          <a:ln/>
        </p:spPr>
      </p:sp>
      <p:sp>
        <p:nvSpPr>
          <p:cNvPr id="21" name="Text 19"/>
          <p:cNvSpPr/>
          <p:nvPr/>
        </p:nvSpPr>
        <p:spPr>
          <a:xfrm>
            <a:off x="7306056" y="1463040"/>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THÁNG 05</a:t>
            </a:r>
            <a:endParaRPr lang="en-US" sz="1150" dirty="0"/>
          </a:p>
        </p:txBody>
      </p:sp>
      <p:sp>
        <p:nvSpPr>
          <p:cNvPr id="22" name="Text 20"/>
          <p:cNvSpPr/>
          <p:nvPr/>
        </p:nvSpPr>
        <p:spPr>
          <a:xfrm>
            <a:off x="7351776" y="2057400"/>
            <a:ext cx="1810512" cy="868680"/>
          </a:xfrm>
          <a:prstGeom prst="rect">
            <a:avLst/>
          </a:prstGeom>
          <a:noFill/>
          <a:ln/>
        </p:spPr>
        <p:txBody>
          <a:bodyPr wrap="square" lIns="0" tIns="0" rIns="0" bIns="0" rtlCol="0" anchor="ctr"/>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Hiệu suất tốt nhất</a:t>
            </a:r>
            <a:endParaRPr lang="en-US" sz="1150" dirty="0"/>
          </a:p>
        </p:txBody>
      </p:sp>
      <p:sp>
        <p:nvSpPr>
          <p:cNvPr id="23" name="Text 21"/>
          <p:cNvSpPr/>
          <p:nvPr/>
        </p:nvSpPr>
        <p:spPr>
          <a:xfrm>
            <a:off x="7351776" y="3017520"/>
            <a:ext cx="1810512" cy="2514600"/>
          </a:xfrm>
          <a:prstGeom prst="rect">
            <a:avLst/>
          </a:prstGeom>
          <a:noFill/>
          <a:ln/>
        </p:spPr>
        <p:txBody>
          <a:bodyPr wrap="square" lIns="0" tIns="0" rIns="0" bIns="0" rtlCol="0" anchor="ctr"/>
          <a:lstStyle/>
          <a:p>
            <a:pPr indent="0" marL="0">
              <a:lnSpc>
                <a:spcPts val="1350"/>
              </a:lnSpc>
              <a:buNone/>
            </a:pPr>
            <a:r>
              <a:rPr lang="en-US" sz="1000" dirty="0">
                <a:solidFill>
                  <a:srgbClr val="6B7280"/>
                </a:solidFill>
                <a:latin typeface="Calibri" pitchFamily="34" charset="0"/>
                <a:ea typeface="Calibri" pitchFamily="34" charset="-122"/>
                <a:cs typeface="Calibri" pitchFamily="34" charset="-120"/>
              </a:rPr>
              <a:t>Jobs &amp; Revenue tăng hơn 55%; Repair Time giảm, Rating tăng, Complaint Rate giảm 9,27%.</a:t>
            </a:r>
            <a:endParaRPr lang="en-US" sz="1000" dirty="0"/>
          </a:p>
        </p:txBody>
      </p:sp>
      <p:sp>
        <p:nvSpPr>
          <p:cNvPr id="24" name="Shape 22"/>
          <p:cNvSpPr/>
          <p:nvPr/>
        </p:nvSpPr>
        <p:spPr>
          <a:xfrm>
            <a:off x="9436608" y="1463040"/>
            <a:ext cx="2084832" cy="4206240"/>
          </a:xfrm>
          <a:prstGeom prst="roundRect">
            <a:avLst>
              <a:gd name="adj" fmla="val 3509"/>
            </a:avLst>
          </a:prstGeom>
          <a:solidFill>
            <a:srgbClr val="F4F6FB"/>
          </a:solidFill>
          <a:ln/>
        </p:spPr>
      </p:sp>
      <p:sp>
        <p:nvSpPr>
          <p:cNvPr id="25" name="Shape 23"/>
          <p:cNvSpPr/>
          <p:nvPr/>
        </p:nvSpPr>
        <p:spPr>
          <a:xfrm>
            <a:off x="9436608" y="1463040"/>
            <a:ext cx="2084832" cy="457200"/>
          </a:xfrm>
          <a:prstGeom prst="rect">
            <a:avLst/>
          </a:prstGeom>
          <a:solidFill>
            <a:srgbClr val="C0392B"/>
          </a:solidFill>
          <a:ln/>
        </p:spPr>
      </p:sp>
      <p:sp>
        <p:nvSpPr>
          <p:cNvPr id="26" name="Text 24"/>
          <p:cNvSpPr/>
          <p:nvPr/>
        </p:nvSpPr>
        <p:spPr>
          <a:xfrm>
            <a:off x="9528048" y="1463040"/>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THÁNG 06</a:t>
            </a:r>
            <a:endParaRPr lang="en-US" sz="1150" dirty="0"/>
          </a:p>
        </p:txBody>
      </p:sp>
      <p:sp>
        <p:nvSpPr>
          <p:cNvPr id="27" name="Text 25"/>
          <p:cNvSpPr/>
          <p:nvPr/>
        </p:nvSpPr>
        <p:spPr>
          <a:xfrm>
            <a:off x="9573768" y="2057400"/>
            <a:ext cx="1810512" cy="868680"/>
          </a:xfrm>
          <a:prstGeom prst="rect">
            <a:avLst/>
          </a:prstGeom>
          <a:noFill/>
          <a:ln/>
        </p:spPr>
        <p:txBody>
          <a:bodyPr wrap="square" lIns="0" tIns="0" rIns="0" bIns="0" rtlCol="0" anchor="ctr"/>
          <a:lstStyle/>
          <a:p>
            <a:pPr indent="0" marL="0">
              <a:lnSpc>
                <a:spcPts val="1400"/>
              </a:lnSpc>
              <a:buNone/>
            </a:pPr>
            <a:r>
              <a:rPr lang="en-US" sz="1150" b="1" dirty="0">
                <a:solidFill>
                  <a:srgbClr val="1F2430"/>
                </a:solidFill>
                <a:latin typeface="Calibri" pitchFamily="34" charset="0"/>
                <a:ea typeface="Calibri" pitchFamily="34" charset="-122"/>
                <a:cs typeface="Calibri" pitchFamily="34" charset="-120"/>
              </a:rPr>
              <a:t>Áp lực quay trở lại</a:t>
            </a:r>
            <a:endParaRPr lang="en-US" sz="1150" dirty="0"/>
          </a:p>
        </p:txBody>
      </p:sp>
      <p:sp>
        <p:nvSpPr>
          <p:cNvPr id="28" name="Text 26"/>
          <p:cNvSpPr/>
          <p:nvPr/>
        </p:nvSpPr>
        <p:spPr>
          <a:xfrm>
            <a:off x="9573768" y="3017520"/>
            <a:ext cx="1810512" cy="2514600"/>
          </a:xfrm>
          <a:prstGeom prst="rect">
            <a:avLst/>
          </a:prstGeom>
          <a:noFill/>
          <a:ln/>
        </p:spPr>
        <p:txBody>
          <a:bodyPr wrap="square" lIns="0" tIns="0" rIns="0" bIns="0" rtlCol="0" anchor="ctr"/>
          <a:lstStyle/>
          <a:p>
            <a:pPr indent="0" marL="0">
              <a:lnSpc>
                <a:spcPts val="1350"/>
              </a:lnSpc>
              <a:buNone/>
            </a:pPr>
            <a:r>
              <a:rPr lang="en-US" sz="1000" dirty="0">
                <a:solidFill>
                  <a:srgbClr val="6B7280"/>
                </a:solidFill>
                <a:latin typeface="Calibri" pitchFamily="34" charset="0"/>
                <a:ea typeface="Calibri" pitchFamily="34" charset="-122"/>
                <a:cs typeface="Calibri" pitchFamily="34" charset="-120"/>
              </a:rPr>
              <a:t>Jobs &amp; Revenue giảm ~17,8%; Repair Time và Complaint Rate tăng trở lại (+7,42%).</a:t>
            </a:r>
            <a:endParaRPr lang="en-US" sz="1000" dirty="0"/>
          </a:p>
        </p:txBody>
      </p:sp>
      <p:sp>
        <p:nvSpPr>
          <p:cNvPr id="29" name="Text 27"/>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30" name="Text 28"/>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45720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KẾT LUẬN CHUNG</a:t>
            </a:r>
            <a:endParaRPr lang="en-US" sz="1200" dirty="0"/>
          </a:p>
        </p:txBody>
      </p:sp>
      <p:sp>
        <p:nvSpPr>
          <p:cNvPr id="3" name="Text 1"/>
          <p:cNvSpPr/>
          <p:nvPr/>
        </p:nvSpPr>
        <p:spPr>
          <a:xfrm>
            <a:off x="548640" y="594360"/>
            <a:ext cx="10058400" cy="548640"/>
          </a:xfrm>
          <a:prstGeom prst="rect">
            <a:avLst/>
          </a:prstGeom>
          <a:noFill/>
          <a:ln/>
        </p:spPr>
        <p:txBody>
          <a:bodyPr wrap="square" rtlCol="0" anchor="ctr"/>
          <a:lstStyle/>
          <a:p>
            <a:pPr indent="0" marL="0">
              <a:buNone/>
            </a:pPr>
            <a:r>
              <a:rPr lang="en-US" sz="2400" b="1" dirty="0">
                <a:solidFill>
                  <a:srgbClr val="1F2430"/>
                </a:solidFill>
                <a:latin typeface="Cambria" pitchFamily="34" charset="0"/>
                <a:ea typeface="Cambria" pitchFamily="34" charset="-122"/>
                <a:cs typeface="Cambria" pitchFamily="34" charset="-120"/>
              </a:rPr>
              <a:t>Khuyến nghị chiến lược</a:t>
            </a:r>
            <a:endParaRPr lang="en-US" sz="2400" dirty="0"/>
          </a:p>
        </p:txBody>
      </p:sp>
      <p:sp>
        <p:nvSpPr>
          <p:cNvPr id="4" name="Shape 2"/>
          <p:cNvSpPr/>
          <p:nvPr/>
        </p:nvSpPr>
        <p:spPr>
          <a:xfrm>
            <a:off x="548640" y="1371600"/>
            <a:ext cx="5394960" cy="1874520"/>
          </a:xfrm>
          <a:prstGeom prst="roundRect">
            <a:avLst>
              <a:gd name="adj" fmla="val 3902"/>
            </a:avLst>
          </a:prstGeom>
          <a:solidFill>
            <a:srgbClr val="F4F6FB"/>
          </a:solidFill>
          <a:ln/>
        </p:spPr>
      </p:sp>
      <p:sp>
        <p:nvSpPr>
          <p:cNvPr id="5" name="Shape 3"/>
          <p:cNvSpPr/>
          <p:nvPr/>
        </p:nvSpPr>
        <p:spPr>
          <a:xfrm>
            <a:off x="777240" y="1600200"/>
            <a:ext cx="411480" cy="411480"/>
          </a:xfrm>
          <a:prstGeom prst="ellipse">
            <a:avLst/>
          </a:prstGeom>
          <a:solidFill>
            <a:srgbClr val="1E2761"/>
          </a:solidFill>
          <a:ln/>
        </p:spPr>
      </p:sp>
      <p:sp>
        <p:nvSpPr>
          <p:cNvPr id="6" name="Text 4"/>
          <p:cNvSpPr/>
          <p:nvPr/>
        </p:nvSpPr>
        <p:spPr>
          <a:xfrm>
            <a:off x="77724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1572768"/>
            <a:ext cx="43891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Tối ưu phân bổ nguồn lực</a:t>
            </a:r>
            <a:endParaRPr lang="en-US" sz="1400" dirty="0"/>
          </a:p>
        </p:txBody>
      </p:sp>
      <p:sp>
        <p:nvSpPr>
          <p:cNvPr id="8" name="Text 6"/>
          <p:cNvSpPr/>
          <p:nvPr/>
        </p:nvSpPr>
        <p:spPr>
          <a:xfrm>
            <a:off x="1325880" y="2029968"/>
            <a:ext cx="4389120" cy="1097280"/>
          </a:xfrm>
          <a:prstGeom prst="rect">
            <a:avLst/>
          </a:prstGeom>
          <a:noFill/>
          <a:ln/>
        </p:spPr>
        <p:txBody>
          <a:bodyPr wrap="square" lIns="0" tIns="0" rIns="0" bIns="0" rtlCol="0" anchor="ctr"/>
          <a:lstStyle/>
          <a:p>
            <a:pPr indent="0" marL="0">
              <a:lnSpc>
                <a:spcPts val="1500"/>
              </a:lnSpc>
              <a:buNone/>
            </a:pPr>
            <a:r>
              <a:rPr lang="en-US" sz="1150" dirty="0">
                <a:solidFill>
                  <a:srgbClr val="1F2430"/>
                </a:solidFill>
                <a:latin typeface="Calibri" pitchFamily="34" charset="0"/>
                <a:ea typeface="Calibri" pitchFamily="34" charset="-122"/>
                <a:cs typeface="Calibri" pitchFamily="34" charset="-120"/>
              </a:rPr>
              <a:t>Cân đối khối lượng công việc giữa các khu vực; tăng nguồn lực cho Central trong giai đoạn cao điểm để giảm áp lực vận hành.</a:t>
            </a:r>
            <a:endParaRPr lang="en-US" sz="1150" dirty="0"/>
          </a:p>
        </p:txBody>
      </p:sp>
      <p:sp>
        <p:nvSpPr>
          <p:cNvPr id="9" name="Shape 7"/>
          <p:cNvSpPr/>
          <p:nvPr/>
        </p:nvSpPr>
        <p:spPr>
          <a:xfrm>
            <a:off x="6217920" y="1371600"/>
            <a:ext cx="5394960" cy="1874520"/>
          </a:xfrm>
          <a:prstGeom prst="roundRect">
            <a:avLst>
              <a:gd name="adj" fmla="val 3902"/>
            </a:avLst>
          </a:prstGeom>
          <a:solidFill>
            <a:srgbClr val="F4F6FB"/>
          </a:solidFill>
          <a:ln/>
        </p:spPr>
      </p:sp>
      <p:sp>
        <p:nvSpPr>
          <p:cNvPr id="10" name="Shape 8"/>
          <p:cNvSpPr/>
          <p:nvPr/>
        </p:nvSpPr>
        <p:spPr>
          <a:xfrm>
            <a:off x="6446520" y="1600200"/>
            <a:ext cx="411480" cy="411480"/>
          </a:xfrm>
          <a:prstGeom prst="ellipse">
            <a:avLst/>
          </a:prstGeom>
          <a:solidFill>
            <a:srgbClr val="1E2761"/>
          </a:solidFill>
          <a:ln/>
        </p:spPr>
      </p:sp>
      <p:sp>
        <p:nvSpPr>
          <p:cNvPr id="11" name="Text 9"/>
          <p:cNvSpPr/>
          <p:nvPr/>
        </p:nvSpPr>
        <p:spPr>
          <a:xfrm>
            <a:off x="644652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995160" y="1572768"/>
            <a:ext cx="43891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Nhân rộng mô hình North</a:t>
            </a:r>
            <a:endParaRPr lang="en-US" sz="1400" dirty="0"/>
          </a:p>
        </p:txBody>
      </p:sp>
      <p:sp>
        <p:nvSpPr>
          <p:cNvPr id="13" name="Text 11"/>
          <p:cNvSpPr/>
          <p:nvPr/>
        </p:nvSpPr>
        <p:spPr>
          <a:xfrm>
            <a:off x="6995160" y="2029968"/>
            <a:ext cx="4389120" cy="1097280"/>
          </a:xfrm>
          <a:prstGeom prst="rect">
            <a:avLst/>
          </a:prstGeom>
          <a:noFill/>
          <a:ln/>
        </p:spPr>
        <p:txBody>
          <a:bodyPr wrap="square" lIns="0" tIns="0" rIns="0" bIns="0" rtlCol="0" anchor="ctr"/>
          <a:lstStyle/>
          <a:p>
            <a:pPr indent="0" marL="0">
              <a:lnSpc>
                <a:spcPts val="1500"/>
              </a:lnSpc>
              <a:buNone/>
            </a:pPr>
            <a:r>
              <a:rPr lang="en-US" sz="1150" dirty="0">
                <a:solidFill>
                  <a:srgbClr val="1F2430"/>
                </a:solidFill>
                <a:latin typeface="Calibri" pitchFamily="34" charset="0"/>
                <a:ea typeface="Calibri" pitchFamily="34" charset="-122"/>
                <a:cs typeface="Calibri" pitchFamily="34" charset="-120"/>
              </a:rPr>
              <a:t>Dùng North làm benchmark, chia sẻ quy trình vận hành hiệu quả giúp cân bằng năng suất và chất lượng cho các khu vực khác.</a:t>
            </a:r>
            <a:endParaRPr lang="en-US" sz="1150" dirty="0"/>
          </a:p>
        </p:txBody>
      </p:sp>
      <p:sp>
        <p:nvSpPr>
          <p:cNvPr id="14" name="Shape 12"/>
          <p:cNvSpPr/>
          <p:nvPr/>
        </p:nvSpPr>
        <p:spPr>
          <a:xfrm>
            <a:off x="548640" y="3474720"/>
            <a:ext cx="5394960" cy="1874520"/>
          </a:xfrm>
          <a:prstGeom prst="roundRect">
            <a:avLst>
              <a:gd name="adj" fmla="val 3902"/>
            </a:avLst>
          </a:prstGeom>
          <a:solidFill>
            <a:srgbClr val="F4F6FB"/>
          </a:solidFill>
          <a:ln/>
        </p:spPr>
      </p:sp>
      <p:sp>
        <p:nvSpPr>
          <p:cNvPr id="15" name="Shape 13"/>
          <p:cNvSpPr/>
          <p:nvPr/>
        </p:nvSpPr>
        <p:spPr>
          <a:xfrm>
            <a:off x="777240" y="3703320"/>
            <a:ext cx="411480" cy="411480"/>
          </a:xfrm>
          <a:prstGeom prst="ellipse">
            <a:avLst/>
          </a:prstGeom>
          <a:solidFill>
            <a:srgbClr val="1E2761"/>
          </a:solidFill>
          <a:ln/>
        </p:spPr>
      </p:sp>
      <p:sp>
        <p:nvSpPr>
          <p:cNvPr id="16" name="Text 14"/>
          <p:cNvSpPr/>
          <p:nvPr/>
        </p:nvSpPr>
        <p:spPr>
          <a:xfrm>
            <a:off x="777240" y="3703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25880" y="3675888"/>
            <a:ext cx="43891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Tăng giá trị dịch vụ tại South</a:t>
            </a:r>
            <a:endParaRPr lang="en-US" sz="1400" dirty="0"/>
          </a:p>
        </p:txBody>
      </p:sp>
      <p:sp>
        <p:nvSpPr>
          <p:cNvPr id="18" name="Text 16"/>
          <p:cNvSpPr/>
          <p:nvPr/>
        </p:nvSpPr>
        <p:spPr>
          <a:xfrm>
            <a:off x="1325880" y="4133088"/>
            <a:ext cx="4389120" cy="1097280"/>
          </a:xfrm>
          <a:prstGeom prst="rect">
            <a:avLst/>
          </a:prstGeom>
          <a:noFill/>
          <a:ln/>
        </p:spPr>
        <p:txBody>
          <a:bodyPr wrap="square" lIns="0" tIns="0" rIns="0" bIns="0" rtlCol="0" anchor="ctr"/>
          <a:lstStyle/>
          <a:p>
            <a:pPr indent="0" marL="0">
              <a:lnSpc>
                <a:spcPts val="1500"/>
              </a:lnSpc>
              <a:buNone/>
            </a:pPr>
            <a:r>
              <a:rPr lang="en-US" sz="1150" dirty="0">
                <a:solidFill>
                  <a:srgbClr val="1F2430"/>
                </a:solidFill>
                <a:latin typeface="Calibri" pitchFamily="34" charset="0"/>
                <a:ea typeface="Calibri" pitchFamily="34" charset="-122"/>
                <a:cs typeface="Calibri" pitchFamily="34" charset="-120"/>
              </a:rPr>
              <a:t>Phân tích cơ cấu dịch vụ, bổ sung các công việc/dịch vụ giá trị cao hơn nhằm cải thiện Revenue per Job.</a:t>
            </a:r>
            <a:endParaRPr lang="en-US" sz="1150" dirty="0"/>
          </a:p>
        </p:txBody>
      </p:sp>
      <p:sp>
        <p:nvSpPr>
          <p:cNvPr id="19" name="Shape 17"/>
          <p:cNvSpPr/>
          <p:nvPr/>
        </p:nvSpPr>
        <p:spPr>
          <a:xfrm>
            <a:off x="6217920" y="3474720"/>
            <a:ext cx="5394960" cy="1874520"/>
          </a:xfrm>
          <a:prstGeom prst="roundRect">
            <a:avLst>
              <a:gd name="adj" fmla="val 3902"/>
            </a:avLst>
          </a:prstGeom>
          <a:solidFill>
            <a:srgbClr val="F4F6FB"/>
          </a:solidFill>
          <a:ln/>
        </p:spPr>
      </p:sp>
      <p:sp>
        <p:nvSpPr>
          <p:cNvPr id="20" name="Shape 18"/>
          <p:cNvSpPr/>
          <p:nvPr/>
        </p:nvSpPr>
        <p:spPr>
          <a:xfrm>
            <a:off x="6446520" y="3703320"/>
            <a:ext cx="411480" cy="411480"/>
          </a:xfrm>
          <a:prstGeom prst="ellipse">
            <a:avLst/>
          </a:prstGeom>
          <a:solidFill>
            <a:srgbClr val="1E2761"/>
          </a:solidFill>
          <a:ln/>
        </p:spPr>
      </p:sp>
      <p:sp>
        <p:nvSpPr>
          <p:cNvPr id="21" name="Text 19"/>
          <p:cNvSpPr/>
          <p:nvPr/>
        </p:nvSpPr>
        <p:spPr>
          <a:xfrm>
            <a:off x="6446520" y="3703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995160" y="3675888"/>
            <a:ext cx="438912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Theo dõi sát Complaint Rate</a:t>
            </a:r>
            <a:endParaRPr lang="en-US" sz="1400" dirty="0"/>
          </a:p>
        </p:txBody>
      </p:sp>
      <p:sp>
        <p:nvSpPr>
          <p:cNvPr id="23" name="Text 21"/>
          <p:cNvSpPr/>
          <p:nvPr/>
        </p:nvSpPr>
        <p:spPr>
          <a:xfrm>
            <a:off x="6995160" y="4133088"/>
            <a:ext cx="4389120" cy="1097280"/>
          </a:xfrm>
          <a:prstGeom prst="rect">
            <a:avLst/>
          </a:prstGeom>
          <a:noFill/>
          <a:ln/>
        </p:spPr>
        <p:txBody>
          <a:bodyPr wrap="square" lIns="0" tIns="0" rIns="0" bIns="0" rtlCol="0" anchor="ctr"/>
          <a:lstStyle/>
          <a:p>
            <a:pPr indent="0" marL="0">
              <a:lnSpc>
                <a:spcPts val="1500"/>
              </a:lnSpc>
              <a:buNone/>
            </a:pPr>
            <a:r>
              <a:rPr lang="en-US" sz="1150" dirty="0">
                <a:solidFill>
                  <a:srgbClr val="1F2430"/>
                </a:solidFill>
                <a:latin typeface="Calibri" pitchFamily="34" charset="0"/>
                <a:ea typeface="Calibri" pitchFamily="34" charset="-122"/>
                <a:cs typeface="Calibri" pitchFamily="34" charset="-120"/>
              </a:rPr>
              <a:t>Complaint Rate có CV cao nhất (5,27%) trong nhóm KPI vận hành — cần ưu tiên giám sát ở các kỳ tiếp theo, đặc biệt sau tháng 06.</a:t>
            </a:r>
            <a:endParaRPr lang="en-US" sz="1150" dirty="0"/>
          </a:p>
        </p:txBody>
      </p:sp>
      <p:sp>
        <p:nvSpPr>
          <p:cNvPr id="24" name="Text 2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Technician Performance Report  |  01/2026 – 06/2026</a:t>
            </a:r>
            <a:endParaRPr lang="en-US" sz="900" dirty="0"/>
          </a:p>
        </p:txBody>
      </p:sp>
      <p:sp>
        <p:nvSpPr>
          <p:cNvPr id="25" name="Text 23"/>
          <p:cNvSpPr/>
          <p:nvPr/>
        </p:nvSpPr>
        <p:spPr>
          <a:xfrm>
            <a:off x="9902952" y="6537960"/>
            <a:ext cx="18288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Trang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966960" y="-1463040"/>
            <a:ext cx="4572000" cy="4572000"/>
          </a:xfrm>
          <a:prstGeom prst="ellipse">
            <a:avLst/>
          </a:prstGeom>
          <a:solidFill>
            <a:srgbClr val="263173"/>
          </a:solidFill>
          <a:ln/>
        </p:spPr>
      </p:sp>
      <p:sp>
        <p:nvSpPr>
          <p:cNvPr id="3" name="Text 1"/>
          <p:cNvSpPr/>
          <p:nvPr/>
        </p:nvSpPr>
        <p:spPr>
          <a:xfrm>
            <a:off x="822960" y="2743200"/>
            <a:ext cx="73152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CẢM ƠN</a:t>
            </a:r>
            <a:endParaRPr lang="en-US" sz="4400" dirty="0"/>
          </a:p>
        </p:txBody>
      </p:sp>
      <p:sp>
        <p:nvSpPr>
          <p:cNvPr id="4" name="Text 2"/>
          <p:cNvSpPr/>
          <p:nvPr/>
        </p:nvSpPr>
        <p:spPr>
          <a:xfrm>
            <a:off x="822960" y="3566160"/>
            <a:ext cx="7315200" cy="4572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Technician Performance Report  |  01/2026 – 06/2026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2026-07-20T18:16:43Z</dcterms:created>
  <dcterms:modified xsi:type="dcterms:W3CDTF">2026-07-20T18:16:43Z</dcterms:modified>
</cp:coreProperties>
</file>